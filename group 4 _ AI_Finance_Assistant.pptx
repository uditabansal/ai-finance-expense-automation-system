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9" r:id="rId4"/>
    <p:sldId id="262" r:id="rId5"/>
    <p:sldId id="263" r:id="rId6"/>
    <p:sldId id="261" r:id="rId7"/>
    <p:sldId id="258" r:id="rId8"/>
    <p:sldId id="266" r:id="rId9"/>
    <p:sldId id="260" r:id="rId10"/>
    <p:sldId id="268" r:id="rId11"/>
    <p:sldId id="267" r:id="rId12"/>
    <p:sldId id="265"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882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4D431-A808-CD8D-04A5-AC30DDD8A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B46BA-103F-22DC-24D3-0F5D9FFB0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659E6-951C-14B3-0CF9-3565E1FC21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538BAF-9D9C-9526-115F-C642B743561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44646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56AB0-3D07-D2E2-76A5-999119164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6B0F3-7A6D-79E9-DF02-DA4913062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0E63B-D1D9-6B37-239A-8D613CAD2C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D095D9-A719-4358-BCBD-83142757AC0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72755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23F1B-CE2C-8D37-22F1-4F8E29157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84F67-5A4A-D99E-1EFC-106B618A8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4C17A-2AD0-32F7-74B7-1D5FE20DCF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77361E-B64A-4DCF-8872-B3494DC6ADE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42563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D7E17-BD34-B6D6-124F-57E4E8E74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6DCB5-AAC3-E5F9-D1AC-82BAAF2A5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C208F-28DF-FAF0-D3B9-C691FB78EE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1096D6-30B7-EECF-327D-C0A588D0E77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568415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eeksha29-bawa/ai-finance-expense-automation-system-"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E0F0"/>
        </a:solidFill>
        <a:effectLst/>
      </p:bgPr>
    </p:bg>
    <p:spTree>
      <p:nvGrpSpPr>
        <p:cNvPr id="1" name=""/>
        <p:cNvGrpSpPr/>
        <p:nvPr/>
      </p:nvGrpSpPr>
      <p:grpSpPr>
        <a:xfrm>
          <a:off x="0" y="0"/>
          <a:ext cx="0" cy="0"/>
          <a:chOff x="0" y="0"/>
          <a:chExt cx="0" cy="0"/>
        </a:xfrm>
      </p:grpSpPr>
      <p:sp>
        <p:nvSpPr>
          <p:cNvPr id="2" name="Shape 0"/>
          <p:cNvSpPr/>
          <p:nvPr/>
        </p:nvSpPr>
        <p:spPr>
          <a:xfrm>
            <a:off x="6583680" y="-914400"/>
            <a:ext cx="3840480" cy="3840480"/>
          </a:xfrm>
          <a:prstGeom prst="ellipse">
            <a:avLst/>
          </a:prstGeom>
          <a:solidFill>
            <a:srgbClr val="7C5CBF">
              <a:alpha val="18000"/>
            </a:srgbClr>
          </a:solidFill>
          <a:ln w="12700">
            <a:solidFill>
              <a:srgbClr val="7C5CBF">
                <a:alpha val="18000"/>
              </a:srgbClr>
            </a:solidFill>
            <a:prstDash val="solid"/>
          </a:ln>
        </p:spPr>
      </p:sp>
      <p:sp>
        <p:nvSpPr>
          <p:cNvPr id="3" name="Shape 1"/>
          <p:cNvSpPr/>
          <p:nvPr/>
        </p:nvSpPr>
        <p:spPr>
          <a:xfrm>
            <a:off x="-731520" y="3474720"/>
            <a:ext cx="2743200" cy="2743200"/>
          </a:xfrm>
          <a:prstGeom prst="ellipse">
            <a:avLst/>
          </a:prstGeom>
          <a:solidFill>
            <a:srgbClr val="3A9E8D">
              <a:alpha val="18000"/>
            </a:srgbClr>
          </a:solidFill>
          <a:ln w="12700">
            <a:solidFill>
              <a:srgbClr val="3A9E8D">
                <a:alpha val="18000"/>
              </a:srgbClr>
            </a:solidFill>
            <a:prstDash val="solid"/>
          </a:ln>
        </p:spPr>
      </p:sp>
      <p:sp>
        <p:nvSpPr>
          <p:cNvPr id="4" name="Shape 2"/>
          <p:cNvSpPr/>
          <p:nvPr/>
        </p:nvSpPr>
        <p:spPr>
          <a:xfrm>
            <a:off x="1371600" y="905256"/>
            <a:ext cx="6400800" cy="3383280"/>
          </a:xfrm>
          <a:prstGeom prst="roundRect">
            <a:avLst>
              <a:gd name="adj" fmla="val 4865"/>
            </a:avLst>
          </a:prstGeom>
          <a:solidFill>
            <a:srgbClr val="FFFFFF">
              <a:alpha val="80000"/>
            </a:srgbClr>
          </a:solidFill>
          <a:ln w="12700">
            <a:solidFill>
              <a:srgbClr val="7C5CBF">
                <a:alpha val="25000"/>
              </a:srgbClr>
            </a:solidFill>
            <a:prstDash val="solid"/>
          </a:ln>
          <a:effectLst>
            <a:outerShdw blurRad="101600" dist="25400" dir="8100000" algn="bl" rotWithShape="0">
              <a:srgbClr val="9B8FBB">
                <a:alpha val="13000"/>
              </a:srgbClr>
            </a:outerShdw>
          </a:effectLst>
        </p:spPr>
      </p:sp>
      <p:sp>
        <p:nvSpPr>
          <p:cNvPr id="5" name="Shape 3"/>
          <p:cNvSpPr/>
          <p:nvPr/>
        </p:nvSpPr>
        <p:spPr>
          <a:xfrm>
            <a:off x="4114800" y="1051560"/>
            <a:ext cx="914400" cy="914400"/>
          </a:xfrm>
          <a:prstGeom prst="ellipse">
            <a:avLst/>
          </a:prstGeom>
          <a:solidFill>
            <a:srgbClr val="7C5CBF"/>
          </a:solidFill>
          <a:ln w="12700">
            <a:solidFill>
              <a:srgbClr val="7C5CBF"/>
            </a:solidFill>
            <a:prstDash val="solid"/>
          </a:ln>
        </p:spPr>
      </p:sp>
      <p:sp>
        <p:nvSpPr>
          <p:cNvPr id="6" name="Text 4"/>
          <p:cNvSpPr/>
          <p:nvPr/>
        </p:nvSpPr>
        <p:spPr>
          <a:xfrm>
            <a:off x="4114800" y="1078992"/>
            <a:ext cx="914400" cy="914400"/>
          </a:xfrm>
          <a:prstGeom prst="rect">
            <a:avLst/>
          </a:prstGeom>
          <a:noFill/>
          <a:ln/>
        </p:spPr>
        <p:txBody>
          <a:bodyPr wrap="square" lIns="0" tIns="0" rIns="0" bIns="0" rtlCol="0" anchor="ctr"/>
          <a:lstStyle/>
          <a:p>
            <a:pPr marL="0" indent="0" algn="ctr">
              <a:buNone/>
            </a:pPr>
            <a:r>
              <a:rPr lang="en-US" sz="2800" b="1" dirty="0">
                <a:solidFill>
                  <a:srgbClr val="FFFFFF"/>
                </a:solidFill>
              </a:rPr>
              <a:t>₹</a:t>
            </a:r>
            <a:endParaRPr lang="en-US" sz="2800" dirty="0"/>
          </a:p>
        </p:txBody>
      </p:sp>
      <p:sp>
        <p:nvSpPr>
          <p:cNvPr id="7" name="Text 5"/>
          <p:cNvSpPr/>
          <p:nvPr/>
        </p:nvSpPr>
        <p:spPr>
          <a:xfrm>
            <a:off x="1463040" y="2103120"/>
            <a:ext cx="6217920" cy="685800"/>
          </a:xfrm>
          <a:prstGeom prst="rect">
            <a:avLst/>
          </a:prstGeom>
          <a:noFill/>
          <a:ln/>
        </p:spPr>
        <p:txBody>
          <a:bodyPr wrap="square" lIns="0" tIns="0" rIns="0" bIns="0" rtlCol="0" anchor="ctr"/>
          <a:lstStyle/>
          <a:p>
            <a:pPr marL="0" indent="0" algn="ctr">
              <a:buNone/>
            </a:pPr>
            <a:r>
              <a:rPr lang="en-US" sz="3400" b="1" dirty="0">
                <a:solidFill>
                  <a:srgbClr val="3D3455"/>
                </a:solidFill>
                <a:latin typeface="Georgia" pitchFamily="34" charset="0"/>
                <a:ea typeface="Georgia" pitchFamily="34" charset="-122"/>
                <a:cs typeface="Georgia" pitchFamily="34" charset="-120"/>
              </a:rPr>
              <a:t>AI Finance Assistant</a:t>
            </a:r>
            <a:endParaRPr lang="en-US" sz="3400" dirty="0"/>
          </a:p>
        </p:txBody>
      </p:sp>
      <p:sp>
        <p:nvSpPr>
          <p:cNvPr id="8" name="Text 6"/>
          <p:cNvSpPr/>
          <p:nvPr/>
        </p:nvSpPr>
        <p:spPr>
          <a:xfrm>
            <a:off x="1463040" y="2834640"/>
            <a:ext cx="6217920" cy="411480"/>
          </a:xfrm>
          <a:prstGeom prst="rect">
            <a:avLst/>
          </a:prstGeom>
          <a:noFill/>
          <a:ln/>
        </p:spPr>
        <p:txBody>
          <a:bodyPr wrap="square" lIns="0" tIns="0" rIns="0" bIns="0" rtlCol="0" anchor="ctr"/>
          <a:lstStyle/>
          <a:p>
            <a:pPr marL="0" indent="0" algn="ctr">
              <a:buNone/>
            </a:pPr>
            <a:endParaRPr lang="en-US" sz="1500" dirty="0">
              <a:solidFill>
                <a:srgbClr val="5A5278"/>
              </a:solidFill>
              <a:latin typeface="Calibri" pitchFamily="34" charset="0"/>
              <a:ea typeface="Calibri" pitchFamily="34" charset="-122"/>
              <a:cs typeface="Calibri" pitchFamily="34" charset="-120"/>
            </a:endParaRPr>
          </a:p>
          <a:p>
            <a:pPr marL="0" indent="0" algn="ctr">
              <a:buNone/>
            </a:pPr>
            <a:endParaRPr lang="en-US" sz="1500" dirty="0">
              <a:solidFill>
                <a:srgbClr val="5A5278"/>
              </a:solidFill>
              <a:latin typeface="Calibri" pitchFamily="34" charset="0"/>
              <a:ea typeface="Calibri" pitchFamily="34" charset="-122"/>
              <a:cs typeface="Calibri" pitchFamily="34" charset="-120"/>
            </a:endParaRPr>
          </a:p>
          <a:p>
            <a:pPr marL="0" indent="0" algn="ctr">
              <a:buNone/>
            </a:pPr>
            <a:r>
              <a:rPr lang="en-US" sz="1500" dirty="0">
                <a:solidFill>
                  <a:srgbClr val="5A5278"/>
                </a:solidFill>
                <a:latin typeface="Calibri" pitchFamily="34" charset="0"/>
                <a:ea typeface="Calibri" pitchFamily="34" charset="-122"/>
                <a:cs typeface="Calibri" pitchFamily="34" charset="-120"/>
              </a:rPr>
              <a:t>Your smart companion for loans, EMI &amp; investments</a:t>
            </a:r>
          </a:p>
          <a:p>
            <a:pPr marL="0" indent="0" algn="ctr">
              <a:buNone/>
            </a:pPr>
            <a:r>
              <a:rPr lang="en-US" sz="1400" b="1" dirty="0">
                <a:solidFill>
                  <a:srgbClr val="5A5278"/>
                </a:solidFill>
                <a:latin typeface="Calibri" pitchFamily="34" charset="0"/>
                <a:ea typeface="Calibri" pitchFamily="34" charset="-122"/>
                <a:cs typeface="Calibri" pitchFamily="34" charset="-120"/>
              </a:rPr>
              <a:t>Group 4:-</a:t>
            </a:r>
          </a:p>
          <a:p>
            <a:pPr marL="0" indent="0" algn="ctr">
              <a:buNone/>
            </a:pPr>
            <a:r>
              <a:rPr lang="en-US" sz="1400" b="1" dirty="0">
                <a:solidFill>
                  <a:srgbClr val="5A5278"/>
                </a:solidFill>
                <a:latin typeface="Calibri" pitchFamily="34" charset="0"/>
                <a:ea typeface="Calibri" pitchFamily="34" charset="-122"/>
                <a:cs typeface="Calibri" pitchFamily="34" charset="-120"/>
              </a:rPr>
              <a:t>Bhavika (2520982541)</a:t>
            </a:r>
          </a:p>
          <a:p>
            <a:pPr marL="0" indent="0" algn="ctr">
              <a:buNone/>
            </a:pPr>
            <a:r>
              <a:rPr lang="en-US" sz="1400" b="1" dirty="0">
                <a:solidFill>
                  <a:srgbClr val="5A5278"/>
                </a:solidFill>
                <a:latin typeface="Calibri" pitchFamily="34" charset="0"/>
                <a:ea typeface="Calibri" pitchFamily="34" charset="-122"/>
                <a:cs typeface="Calibri" pitchFamily="34" charset="-120"/>
              </a:rPr>
              <a:t>Deeksha(2520982551)</a:t>
            </a:r>
          </a:p>
          <a:p>
            <a:pPr marL="0" indent="0" algn="ctr">
              <a:buNone/>
            </a:pPr>
            <a:r>
              <a:rPr lang="en-US" sz="1400" b="1" dirty="0">
                <a:solidFill>
                  <a:srgbClr val="5A5278"/>
                </a:solidFill>
                <a:latin typeface="Calibri" pitchFamily="34" charset="0"/>
                <a:ea typeface="Calibri" pitchFamily="34" charset="-122"/>
                <a:cs typeface="Calibri" pitchFamily="34" charset="-120"/>
              </a:rPr>
              <a:t>Udita (2520982749)</a:t>
            </a:r>
          </a:p>
          <a:p>
            <a:pPr marL="0" indent="0" algn="ctr">
              <a:buNone/>
            </a:pPr>
            <a:r>
              <a:rPr lang="en-US" sz="1400" b="1" dirty="0">
                <a:solidFill>
                  <a:srgbClr val="5A5278"/>
                </a:solidFill>
                <a:latin typeface="Calibri" pitchFamily="34" charset="0"/>
                <a:ea typeface="Calibri" pitchFamily="34" charset="-122"/>
                <a:cs typeface="Calibri" pitchFamily="34" charset="-120"/>
              </a:rPr>
              <a:t>Prachi (2520982677)</a:t>
            </a:r>
            <a:endParaRPr lang="en-US" sz="1400" b="1" dirty="0"/>
          </a:p>
        </p:txBody>
      </p:sp>
      <p:sp>
        <p:nvSpPr>
          <p:cNvPr id="9" name="Text 7"/>
          <p:cNvSpPr/>
          <p:nvPr/>
        </p:nvSpPr>
        <p:spPr>
          <a:xfrm>
            <a:off x="1463040" y="3890772"/>
            <a:ext cx="6217920" cy="347472"/>
          </a:xfrm>
          <a:prstGeom prst="rect">
            <a:avLst/>
          </a:prstGeom>
          <a:noFill/>
          <a:ln/>
        </p:spPr>
        <p:txBody>
          <a:bodyPr wrap="square" lIns="0" tIns="0" rIns="0" bIns="0" rtlCol="0" anchor="ctr"/>
          <a:lstStyle/>
          <a:p>
            <a:pPr marL="0" indent="0" algn="ctr">
              <a:buNone/>
            </a:pPr>
            <a:r>
              <a:rPr lang="en-US" sz="1200" i="1" dirty="0">
                <a:solidFill>
                  <a:srgbClr val="6B6380"/>
                </a:solidFill>
                <a:latin typeface="Calibri" pitchFamily="34" charset="0"/>
                <a:ea typeface="Calibri" pitchFamily="34" charset="-122"/>
                <a:cs typeface="Calibri" pitchFamily="34" charset="-120"/>
              </a:rPr>
              <a:t>Simple · Accurate · User-Friendly</a:t>
            </a:r>
            <a:endParaRPr lang="en-US" sz="1200" dirty="0"/>
          </a:p>
        </p:txBody>
      </p:sp>
      <p:sp>
        <p:nvSpPr>
          <p:cNvPr id="10" name="Text 8"/>
          <p:cNvSpPr/>
          <p:nvPr/>
        </p:nvSpPr>
        <p:spPr>
          <a:xfrm>
            <a:off x="0" y="4754880"/>
            <a:ext cx="9144000" cy="274320"/>
          </a:xfrm>
          <a:prstGeom prst="rect">
            <a:avLst/>
          </a:prstGeom>
          <a:noFill/>
          <a:ln/>
        </p:spPr>
        <p:txBody>
          <a:bodyPr wrap="square" lIns="0" tIns="0" rIns="0" bIns="0" rtlCol="0" anchor="ctr"/>
          <a:lstStyle/>
          <a:p>
            <a:pPr marL="0" indent="0" algn="ctr">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6F4F1"/>
        </a:solidFill>
        <a:effectLst/>
      </p:bgPr>
    </p:bg>
    <p:spTree>
      <p:nvGrpSpPr>
        <p:cNvPr id="1" name=""/>
        <p:cNvGrpSpPr/>
        <p:nvPr/>
      </p:nvGrpSpPr>
      <p:grpSpPr>
        <a:xfrm>
          <a:off x="0" y="0"/>
          <a:ext cx="0" cy="0"/>
          <a:chOff x="0" y="0"/>
          <a:chExt cx="0" cy="0"/>
        </a:xfrm>
      </p:grpSpPr>
      <p:sp>
        <p:nvSpPr>
          <p:cNvPr id="2" name="Shape 0"/>
          <p:cNvSpPr/>
          <p:nvPr/>
        </p:nvSpPr>
        <p:spPr>
          <a:xfrm>
            <a:off x="7772400" y="-548640"/>
            <a:ext cx="2286000" cy="2286000"/>
          </a:xfrm>
          <a:prstGeom prst="ellipse">
            <a:avLst/>
          </a:prstGeom>
          <a:solidFill>
            <a:srgbClr val="3A9E8D">
              <a:alpha val="16000"/>
            </a:srgbClr>
          </a:solidFill>
          <a:ln w="12700">
            <a:solidFill>
              <a:srgbClr val="3A9E8D">
                <a:alpha val="16000"/>
              </a:srgbClr>
            </a:solidFill>
            <a:prstDash val="solid"/>
          </a:ln>
        </p:spPr>
      </p:sp>
      <p:sp>
        <p:nvSpPr>
          <p:cNvPr id="3" name="Text 1"/>
          <p:cNvSpPr/>
          <p:nvPr/>
        </p:nvSpPr>
        <p:spPr>
          <a:xfrm>
            <a:off x="457200" y="292608"/>
            <a:ext cx="8229600" cy="548640"/>
          </a:xfrm>
          <a:prstGeom prst="rect">
            <a:avLst/>
          </a:prstGeom>
          <a:noFill/>
          <a:ln/>
        </p:spPr>
        <p:txBody>
          <a:bodyPr wrap="square" lIns="0" tIns="0" rIns="0" bIns="0" rtlCol="0" anchor="ctr"/>
          <a:lstStyle/>
          <a:p>
            <a:pPr marL="0" indent="0">
              <a:buNone/>
            </a:pPr>
            <a:r>
              <a:rPr lang="en-US" sz="3000" b="1" dirty="0">
                <a:solidFill>
                  <a:srgbClr val="3D3455"/>
                </a:solidFill>
                <a:latin typeface="Georgia" pitchFamily="34" charset="0"/>
                <a:ea typeface="Georgia" pitchFamily="34" charset="-122"/>
                <a:cs typeface="Georgia" pitchFamily="34" charset="-120"/>
              </a:rPr>
              <a:t>What We Do</a:t>
            </a:r>
            <a:endParaRPr lang="en-US" sz="3000" dirty="0"/>
          </a:p>
        </p:txBody>
      </p:sp>
      <p:sp>
        <p:nvSpPr>
          <p:cNvPr id="4" name="Text 2"/>
          <p:cNvSpPr/>
          <p:nvPr/>
        </p:nvSpPr>
        <p:spPr>
          <a:xfrm>
            <a:off x="457200" y="896112"/>
            <a:ext cx="8229600" cy="320040"/>
          </a:xfrm>
          <a:prstGeom prst="rect">
            <a:avLst/>
          </a:prstGeom>
          <a:noFill/>
          <a:ln/>
        </p:spPr>
        <p:txBody>
          <a:bodyPr wrap="square" lIns="0" tIns="0" rIns="0" bIns="0" rtlCol="0" anchor="ctr"/>
          <a:lstStyle/>
          <a:p>
            <a:pPr marL="0" indent="0">
              <a:buNone/>
            </a:pPr>
            <a:r>
              <a:rPr lang="en-US" sz="1400" dirty="0">
                <a:solidFill>
                  <a:srgbClr val="5A5278"/>
                </a:solidFill>
                <a:latin typeface="Calibri" pitchFamily="34" charset="0"/>
                <a:ea typeface="Calibri" pitchFamily="34" charset="-122"/>
                <a:cs typeface="Calibri" pitchFamily="34" charset="-120"/>
              </a:rPr>
              <a:t>An intelligent assistant that simplifies your financial decisions</a:t>
            </a:r>
            <a:endParaRPr lang="en-US" sz="1400" dirty="0"/>
          </a:p>
        </p:txBody>
      </p:sp>
      <p:sp>
        <p:nvSpPr>
          <p:cNvPr id="5" name="Shape 3"/>
          <p:cNvSpPr/>
          <p:nvPr/>
        </p:nvSpPr>
        <p:spPr>
          <a:xfrm>
            <a:off x="411480" y="1417320"/>
            <a:ext cx="2651760" cy="3337560"/>
          </a:xfrm>
          <a:prstGeom prst="roundRect">
            <a:avLst>
              <a:gd name="adj" fmla="val 4828"/>
            </a:avLst>
          </a:prstGeom>
          <a:solidFill>
            <a:srgbClr val="FDEEF4"/>
          </a:solidFill>
          <a:ln w="12700">
            <a:solidFill>
              <a:srgbClr val="7C5CBF">
                <a:alpha val="20000"/>
              </a:srgbClr>
            </a:solidFill>
            <a:prstDash val="solid"/>
          </a:ln>
          <a:effectLst>
            <a:outerShdw blurRad="101600" dist="25400" dir="8100000" algn="bl" rotWithShape="0">
              <a:srgbClr val="9B8FBB">
                <a:alpha val="13000"/>
              </a:srgbClr>
            </a:outerShdw>
          </a:effectLst>
        </p:spPr>
      </p:sp>
      <p:sp>
        <p:nvSpPr>
          <p:cNvPr id="6" name="Text 4"/>
          <p:cNvSpPr/>
          <p:nvPr/>
        </p:nvSpPr>
        <p:spPr>
          <a:xfrm>
            <a:off x="521208" y="1600200"/>
            <a:ext cx="2432304" cy="457200"/>
          </a:xfrm>
          <a:prstGeom prst="rect">
            <a:avLst/>
          </a:prstGeom>
          <a:noFill/>
          <a:ln/>
        </p:spPr>
        <p:txBody>
          <a:bodyPr wrap="square" lIns="0" tIns="0" rIns="0" bIns="0" rtlCol="0" anchor="ctr"/>
          <a:lstStyle/>
          <a:p>
            <a:pPr marL="0" indent="0">
              <a:buNone/>
            </a:pPr>
            <a:r>
              <a:rPr lang="en-US" sz="1400" b="1" dirty="0">
                <a:solidFill>
                  <a:srgbClr val="3D3455"/>
                </a:solidFill>
                <a:latin typeface="Calibri" pitchFamily="34" charset="0"/>
                <a:ea typeface="Calibri" pitchFamily="34" charset="-122"/>
                <a:cs typeface="Calibri" pitchFamily="34" charset="-120"/>
              </a:rPr>
              <a:t>🏦 Loan Check</a:t>
            </a:r>
            <a:endParaRPr lang="en-US" sz="1400" dirty="0"/>
          </a:p>
        </p:txBody>
      </p:sp>
      <p:sp>
        <p:nvSpPr>
          <p:cNvPr id="7" name="Text 5"/>
          <p:cNvSpPr/>
          <p:nvPr/>
        </p:nvSpPr>
        <p:spPr>
          <a:xfrm>
            <a:off x="521208" y="2176272"/>
            <a:ext cx="2432304" cy="914400"/>
          </a:xfrm>
          <a:prstGeom prst="rect">
            <a:avLst/>
          </a:prstGeom>
          <a:noFill/>
          <a:ln/>
        </p:spPr>
        <p:txBody>
          <a:bodyPr wrap="square" lIns="0" tIns="0" rIns="0" bIns="0" rtlCol="0" anchor="ctr"/>
          <a:lstStyle/>
          <a:p>
            <a:pPr marL="0" indent="0">
              <a:buNone/>
            </a:pPr>
            <a:r>
              <a:rPr lang="en-US" sz="1200" dirty="0">
                <a:solidFill>
                  <a:srgbClr val="6B6380"/>
                </a:solidFill>
                <a:latin typeface="Calibri" pitchFamily="34" charset="0"/>
                <a:ea typeface="Calibri" pitchFamily="34" charset="-122"/>
                <a:cs typeface="Calibri" pitchFamily="34" charset="-120"/>
              </a:rPr>
              <a:t>Instant eligibility</a:t>
            </a:r>
            <a:endParaRPr lang="en-US" sz="1200" dirty="0"/>
          </a:p>
          <a:p>
            <a:pPr marL="0" indent="0">
              <a:buNone/>
            </a:pPr>
            <a:r>
              <a:rPr lang="en-US" sz="1200" dirty="0">
                <a:solidFill>
                  <a:srgbClr val="6B6380"/>
                </a:solidFill>
                <a:latin typeface="Calibri" pitchFamily="34" charset="0"/>
                <a:ea typeface="Calibri" pitchFamily="34" charset="-122"/>
                <a:cs typeface="Calibri" pitchFamily="34" charset="-120"/>
              </a:rPr>
              <a:t>based on salary &amp; age</a:t>
            </a:r>
            <a:endParaRPr lang="en-US" sz="1200" dirty="0"/>
          </a:p>
        </p:txBody>
      </p:sp>
      <p:sp>
        <p:nvSpPr>
          <p:cNvPr id="8" name="Shape 6"/>
          <p:cNvSpPr/>
          <p:nvPr/>
        </p:nvSpPr>
        <p:spPr>
          <a:xfrm>
            <a:off x="3246120" y="1417320"/>
            <a:ext cx="2651760" cy="3337560"/>
          </a:xfrm>
          <a:prstGeom prst="roundRect">
            <a:avLst>
              <a:gd name="adj" fmla="val 4828"/>
            </a:avLst>
          </a:prstGeom>
          <a:solidFill>
            <a:srgbClr val="E3F5F0"/>
          </a:solidFill>
          <a:ln w="12700">
            <a:solidFill>
              <a:srgbClr val="7C5CBF">
                <a:alpha val="20000"/>
              </a:srgbClr>
            </a:solidFill>
            <a:prstDash val="solid"/>
          </a:ln>
          <a:effectLst>
            <a:outerShdw blurRad="101600" dist="25400" dir="8100000" algn="bl" rotWithShape="0">
              <a:srgbClr val="9B8FBB">
                <a:alpha val="13000"/>
              </a:srgbClr>
            </a:outerShdw>
          </a:effectLst>
        </p:spPr>
      </p:sp>
      <p:sp>
        <p:nvSpPr>
          <p:cNvPr id="9" name="Text 7"/>
          <p:cNvSpPr/>
          <p:nvPr/>
        </p:nvSpPr>
        <p:spPr>
          <a:xfrm>
            <a:off x="3355848" y="1600200"/>
            <a:ext cx="2432304" cy="457200"/>
          </a:xfrm>
          <a:prstGeom prst="rect">
            <a:avLst/>
          </a:prstGeom>
          <a:noFill/>
          <a:ln/>
        </p:spPr>
        <p:txBody>
          <a:bodyPr wrap="square" lIns="0" tIns="0" rIns="0" bIns="0" rtlCol="0" anchor="ctr"/>
          <a:lstStyle/>
          <a:p>
            <a:pPr marL="0" indent="0">
              <a:buNone/>
            </a:pPr>
            <a:r>
              <a:rPr lang="en-US" sz="1400" b="1" dirty="0">
                <a:solidFill>
                  <a:srgbClr val="3D3455"/>
                </a:solidFill>
                <a:latin typeface="Calibri" pitchFamily="34" charset="0"/>
                <a:ea typeface="Calibri" pitchFamily="34" charset="-122"/>
                <a:cs typeface="Calibri" pitchFamily="34" charset="-120"/>
              </a:rPr>
              <a:t>📊 EMI Calculator</a:t>
            </a:r>
            <a:endParaRPr lang="en-US" sz="1400" dirty="0"/>
          </a:p>
        </p:txBody>
      </p:sp>
      <p:sp>
        <p:nvSpPr>
          <p:cNvPr id="10" name="Text 8"/>
          <p:cNvSpPr/>
          <p:nvPr/>
        </p:nvSpPr>
        <p:spPr>
          <a:xfrm>
            <a:off x="3355848" y="2176272"/>
            <a:ext cx="2432304" cy="914400"/>
          </a:xfrm>
          <a:prstGeom prst="rect">
            <a:avLst/>
          </a:prstGeom>
          <a:noFill/>
          <a:ln/>
        </p:spPr>
        <p:txBody>
          <a:bodyPr wrap="square" lIns="0" tIns="0" rIns="0" bIns="0" rtlCol="0" anchor="ctr"/>
          <a:lstStyle/>
          <a:p>
            <a:pPr marL="0" indent="0">
              <a:buNone/>
            </a:pPr>
            <a:r>
              <a:rPr lang="en-US" sz="1200" dirty="0">
                <a:solidFill>
                  <a:srgbClr val="6B6380"/>
                </a:solidFill>
                <a:latin typeface="Calibri" pitchFamily="34" charset="0"/>
                <a:ea typeface="Calibri" pitchFamily="34" charset="-122"/>
                <a:cs typeface="Calibri" pitchFamily="34" charset="-120"/>
              </a:rPr>
              <a:t>Monthly payment &amp;</a:t>
            </a:r>
            <a:endParaRPr lang="en-US" sz="1200" dirty="0"/>
          </a:p>
          <a:p>
            <a:pPr marL="0" indent="0">
              <a:buNone/>
            </a:pPr>
            <a:r>
              <a:rPr lang="en-US" sz="1200" dirty="0">
                <a:solidFill>
                  <a:srgbClr val="6B6380"/>
                </a:solidFill>
                <a:latin typeface="Calibri" pitchFamily="34" charset="0"/>
                <a:ea typeface="Calibri" pitchFamily="34" charset="-122"/>
                <a:cs typeface="Calibri" pitchFamily="34" charset="-120"/>
              </a:rPr>
              <a:t>total interest summary</a:t>
            </a:r>
            <a:endParaRPr lang="en-US" sz="1200" dirty="0"/>
          </a:p>
        </p:txBody>
      </p:sp>
      <p:sp>
        <p:nvSpPr>
          <p:cNvPr id="11" name="Shape 9"/>
          <p:cNvSpPr/>
          <p:nvPr/>
        </p:nvSpPr>
        <p:spPr>
          <a:xfrm>
            <a:off x="6080760" y="1417320"/>
            <a:ext cx="2651760" cy="3337560"/>
          </a:xfrm>
          <a:prstGeom prst="roundRect">
            <a:avLst>
              <a:gd name="adj" fmla="val 4828"/>
            </a:avLst>
          </a:prstGeom>
          <a:solidFill>
            <a:srgbClr val="E3EEF8"/>
          </a:solidFill>
          <a:ln w="12700">
            <a:solidFill>
              <a:srgbClr val="7C5CBF">
                <a:alpha val="20000"/>
              </a:srgbClr>
            </a:solidFill>
            <a:prstDash val="solid"/>
          </a:ln>
          <a:effectLst>
            <a:outerShdw blurRad="101600" dist="25400" dir="8100000" algn="bl" rotWithShape="0">
              <a:srgbClr val="9B8FBB">
                <a:alpha val="13000"/>
              </a:srgbClr>
            </a:outerShdw>
          </a:effectLst>
        </p:spPr>
      </p:sp>
      <p:sp>
        <p:nvSpPr>
          <p:cNvPr id="12" name="Text 10"/>
          <p:cNvSpPr/>
          <p:nvPr/>
        </p:nvSpPr>
        <p:spPr>
          <a:xfrm>
            <a:off x="6190488" y="1600200"/>
            <a:ext cx="2432304" cy="457200"/>
          </a:xfrm>
          <a:prstGeom prst="rect">
            <a:avLst/>
          </a:prstGeom>
          <a:noFill/>
          <a:ln/>
        </p:spPr>
        <p:txBody>
          <a:bodyPr wrap="square" lIns="0" tIns="0" rIns="0" bIns="0" rtlCol="0" anchor="ctr"/>
          <a:lstStyle/>
          <a:p>
            <a:pPr marL="0" indent="0">
              <a:buNone/>
            </a:pPr>
            <a:r>
              <a:rPr lang="en-US" sz="1400" b="1" dirty="0">
                <a:solidFill>
                  <a:srgbClr val="3D3455"/>
                </a:solidFill>
                <a:latin typeface="Calibri" pitchFamily="34" charset="0"/>
                <a:ea typeface="Calibri" pitchFamily="34" charset="-122"/>
                <a:cs typeface="Calibri" pitchFamily="34" charset="-120"/>
              </a:rPr>
              <a:t>📈 Investments</a:t>
            </a:r>
            <a:endParaRPr lang="en-US" sz="1400" dirty="0"/>
          </a:p>
        </p:txBody>
      </p:sp>
      <p:sp>
        <p:nvSpPr>
          <p:cNvPr id="13" name="Text 11"/>
          <p:cNvSpPr/>
          <p:nvPr/>
        </p:nvSpPr>
        <p:spPr>
          <a:xfrm>
            <a:off x="6190488" y="2176272"/>
            <a:ext cx="2432304" cy="914400"/>
          </a:xfrm>
          <a:prstGeom prst="rect">
            <a:avLst/>
          </a:prstGeom>
          <a:noFill/>
          <a:ln/>
        </p:spPr>
        <p:txBody>
          <a:bodyPr wrap="square" lIns="0" tIns="0" rIns="0" bIns="0" rtlCol="0" anchor="ctr"/>
          <a:lstStyle/>
          <a:p>
            <a:pPr marL="0" indent="0">
              <a:buNone/>
            </a:pPr>
            <a:r>
              <a:rPr lang="en-US" sz="1200" dirty="0">
                <a:solidFill>
                  <a:srgbClr val="6B6380"/>
                </a:solidFill>
                <a:latin typeface="Calibri" pitchFamily="34" charset="0"/>
                <a:ea typeface="Calibri" pitchFamily="34" charset="-122"/>
                <a:cs typeface="Calibri" pitchFamily="34" charset="-120"/>
              </a:rPr>
              <a:t>Personalised advice</a:t>
            </a:r>
            <a:endParaRPr lang="en-US" sz="1200" dirty="0"/>
          </a:p>
          <a:p>
            <a:pPr marL="0" indent="0">
              <a:buNone/>
            </a:pPr>
            <a:r>
              <a:rPr lang="en-US" sz="1200" dirty="0">
                <a:solidFill>
                  <a:srgbClr val="6B6380"/>
                </a:solidFill>
                <a:latin typeface="Calibri" pitchFamily="34" charset="0"/>
                <a:ea typeface="Calibri" pitchFamily="34" charset="-122"/>
                <a:cs typeface="Calibri" pitchFamily="34" charset="-120"/>
              </a:rPr>
              <a:t>by risk appetite</a:t>
            </a:r>
            <a:endParaRPr lang="en-US" sz="1200" dirty="0"/>
          </a:p>
        </p:txBody>
      </p:sp>
      <p:sp>
        <p:nvSpPr>
          <p:cNvPr id="14" name="Text 12"/>
          <p:cNvSpPr/>
          <p:nvPr/>
        </p:nvSpPr>
        <p:spPr>
          <a:xfrm>
            <a:off x="0" y="4773168"/>
            <a:ext cx="9144000" cy="256032"/>
          </a:xfrm>
          <a:prstGeom prst="rect">
            <a:avLst/>
          </a:prstGeom>
          <a:noFill/>
          <a:ln/>
        </p:spPr>
        <p:txBody>
          <a:bodyPr wrap="square" lIns="0" tIns="0" rIns="0" bIns="0" rtlCol="0" anchor="ctr"/>
          <a:lstStyle/>
          <a:p>
            <a:pPr marL="0" indent="0" algn="ctr">
              <a:buNone/>
            </a:pPr>
            <a:r>
              <a:rPr lang="en-US" sz="1000" i="1" dirty="0">
                <a:solidFill>
                  <a:srgbClr val="6B6380"/>
                </a:solidFill>
              </a:rPr>
              <a:t>AI-Powered  •  Real-Time Calculations  •  Easy to Use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E6F4F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9C34EA5-24A7-DF90-B131-0247E6FFC2B0}"/>
              </a:ext>
            </a:extLst>
          </p:cNvPr>
          <p:cNvSpPr txBox="1"/>
          <p:nvPr/>
        </p:nvSpPr>
        <p:spPr>
          <a:xfrm>
            <a:off x="731520" y="360790"/>
            <a:ext cx="3550396" cy="584775"/>
          </a:xfrm>
          <a:prstGeom prst="rect">
            <a:avLst/>
          </a:prstGeom>
          <a:noFill/>
        </p:spPr>
        <p:txBody>
          <a:bodyPr wrap="none" rtlCol="0">
            <a:spAutoFit/>
          </a:bodyPr>
          <a:lstStyle/>
          <a:p>
            <a:r>
              <a:rPr lang="en-IN" sz="3200" b="1" dirty="0">
                <a:solidFill>
                  <a:schemeClr val="tx1">
                    <a:lumMod val="95000"/>
                    <a:lumOff val="5000"/>
                  </a:schemeClr>
                </a:solidFill>
              </a:rPr>
              <a:t>Problem statement </a:t>
            </a:r>
          </a:p>
        </p:txBody>
      </p:sp>
      <p:sp>
        <p:nvSpPr>
          <p:cNvPr id="23" name="Rectangle 1">
            <a:extLst>
              <a:ext uri="{FF2B5EF4-FFF2-40B4-BE49-F238E27FC236}">
                <a16:creationId xmlns:a16="http://schemas.microsoft.com/office/drawing/2014/main" id="{033F39F3-D2DD-32A6-039E-7062EEF57F3F}"/>
              </a:ext>
            </a:extLst>
          </p:cNvPr>
          <p:cNvSpPr>
            <a:spLocks noChangeArrowheads="1"/>
          </p:cNvSpPr>
          <p:nvPr/>
        </p:nvSpPr>
        <p:spPr bwMode="auto">
          <a:xfrm>
            <a:off x="576775" y="1064142"/>
            <a:ext cx="7835705"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Financial decisions like loans and investments are complex and</a:t>
            </a:r>
            <a:endParaRPr lang="en-US" altLang="en-US" sz="16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 overwhelming for most users. People lack quick, personalized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financial guidance when they need it most. Manual calculations for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EMI and loan eligibility are time-consuming and prone to errors.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00"/>
                </a:solidFill>
                <a:effectLst/>
                <a:latin typeface="Arial" panose="020B0604020202020204" pitchFamily="34" charset="0"/>
              </a:rPr>
              <a:t> The challenge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5" name="Rectangle 2">
            <a:extLst>
              <a:ext uri="{FF2B5EF4-FFF2-40B4-BE49-F238E27FC236}">
                <a16:creationId xmlns:a16="http://schemas.microsoft.com/office/drawing/2014/main" id="{5B8B3CCE-2A29-1EB5-B110-3B996D4C879C}"/>
              </a:ext>
            </a:extLst>
          </p:cNvPr>
          <p:cNvSpPr>
            <a:spLocks noChangeArrowheads="1"/>
          </p:cNvSpPr>
          <p:nvPr/>
        </p:nvSpPr>
        <p:spPr bwMode="auto">
          <a:xfrm>
            <a:off x="576775" y="3227825"/>
            <a:ext cx="761760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Arial" panose="020B0604020202020204" pitchFamily="34" charset="0"/>
              </a:rPr>
              <a:t>There is no unified platform that provides comprehensive financial assistance. Users must navigate multiple tools and resources to get answers about loans, investments, and financial planning, leading to confusion and poor decision-making.</a:t>
            </a: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E8E0F0"/>
        </a:solidFill>
        <a:effectLst/>
      </p:bgPr>
    </p:bg>
    <p:spTree>
      <p:nvGrpSpPr>
        <p:cNvPr id="1" name=""/>
        <p:cNvGrpSpPr/>
        <p:nvPr/>
      </p:nvGrpSpPr>
      <p:grpSpPr>
        <a:xfrm>
          <a:off x="0" y="0"/>
          <a:ext cx="0" cy="0"/>
          <a:chOff x="0" y="0"/>
          <a:chExt cx="0" cy="0"/>
        </a:xfrm>
      </p:grpSpPr>
      <p:sp>
        <p:nvSpPr>
          <p:cNvPr id="2" name="Shape 0"/>
          <p:cNvSpPr/>
          <p:nvPr/>
        </p:nvSpPr>
        <p:spPr>
          <a:xfrm>
            <a:off x="-457200" y="-457200"/>
            <a:ext cx="1828800" cy="1828800"/>
          </a:xfrm>
          <a:prstGeom prst="ellipse">
            <a:avLst/>
          </a:prstGeom>
          <a:solidFill>
            <a:srgbClr val="3A9E8D">
              <a:alpha val="16000"/>
            </a:srgbClr>
          </a:solidFill>
          <a:ln w="12700">
            <a:solidFill>
              <a:srgbClr val="3A9E8D">
                <a:alpha val="16000"/>
              </a:srgbClr>
            </a:solidFill>
            <a:prstDash val="solid"/>
          </a:ln>
        </p:spPr>
      </p:sp>
      <p:sp>
        <p:nvSpPr>
          <p:cNvPr id="3" name="Text 1"/>
          <p:cNvSpPr/>
          <p:nvPr/>
        </p:nvSpPr>
        <p:spPr>
          <a:xfrm>
            <a:off x="2240280" y="443484"/>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  AI &amp; NLP in Finance</a:t>
            </a:r>
          </a:p>
          <a:p>
            <a:pPr marL="0" indent="0">
              <a:buNone/>
            </a:pPr>
            <a:r>
              <a:rPr lang="en-US" sz="2800" b="1" dirty="0">
                <a:solidFill>
                  <a:srgbClr val="3D3455"/>
                </a:solidFill>
                <a:latin typeface="Georgia" pitchFamily="34" charset="0"/>
                <a:ea typeface="Georgia" pitchFamily="34" charset="-122"/>
                <a:cs typeface="Georgia" pitchFamily="34" charset="-120"/>
              </a:rPr>
              <a:t> </a:t>
            </a:r>
            <a:endParaRPr lang="en-US" sz="2800" dirty="0"/>
          </a:p>
        </p:txBody>
      </p:sp>
      <p:sp>
        <p:nvSpPr>
          <p:cNvPr id="4" name="Shape 2"/>
          <p:cNvSpPr/>
          <p:nvPr/>
        </p:nvSpPr>
        <p:spPr>
          <a:xfrm>
            <a:off x="301752" y="1431036"/>
            <a:ext cx="2651760" cy="1572768"/>
          </a:xfrm>
          <a:prstGeom prst="roundRect">
            <a:avLst>
              <a:gd name="adj" fmla="val 6977"/>
            </a:avLst>
          </a:prstGeom>
          <a:solidFill>
            <a:srgbClr val="FDEEF4"/>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5" name="Text 3"/>
          <p:cNvSpPr/>
          <p:nvPr/>
        </p:nvSpPr>
        <p:spPr>
          <a:xfrm>
            <a:off x="521208" y="1389888"/>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Artificial intelligence</a:t>
            </a:r>
            <a:endParaRPr lang="en-US" sz="1300" dirty="0"/>
          </a:p>
        </p:txBody>
      </p:sp>
      <p:sp>
        <p:nvSpPr>
          <p:cNvPr id="6" name="Text 4"/>
          <p:cNvSpPr/>
          <p:nvPr/>
        </p:nvSpPr>
        <p:spPr>
          <a:xfrm>
            <a:off x="521208" y="1828800"/>
            <a:ext cx="2432304" cy="777240"/>
          </a:xfrm>
          <a:prstGeom prst="rect">
            <a:avLst/>
          </a:prstGeom>
          <a:noFill/>
          <a:ln/>
        </p:spPr>
        <p:txBody>
          <a:bodyPr wrap="square" lIns="0" tIns="0" rIns="0" bIns="0" rtlCol="0" anchor="ctr"/>
          <a:lstStyle/>
          <a:p>
            <a:pPr marL="0" indent="0">
              <a:buNone/>
            </a:pPr>
            <a:endParaRPr lang="en-US" sz="1100" dirty="0"/>
          </a:p>
        </p:txBody>
      </p:sp>
      <p:sp>
        <p:nvSpPr>
          <p:cNvPr id="7" name="Shape 5"/>
          <p:cNvSpPr/>
          <p:nvPr/>
        </p:nvSpPr>
        <p:spPr>
          <a:xfrm>
            <a:off x="4732416" y="1426464"/>
            <a:ext cx="2651760" cy="1572768"/>
          </a:xfrm>
          <a:prstGeom prst="roundRect">
            <a:avLst>
              <a:gd name="adj" fmla="val 6977"/>
            </a:avLst>
          </a:prstGeom>
          <a:solidFill>
            <a:srgbClr val="E3F5F0"/>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8" name="Text 6"/>
          <p:cNvSpPr/>
          <p:nvPr/>
        </p:nvSpPr>
        <p:spPr>
          <a:xfrm>
            <a:off x="5077030" y="1412972"/>
            <a:ext cx="2556100"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Chatbots &amp; Support</a:t>
            </a:r>
          </a:p>
        </p:txBody>
      </p:sp>
      <p:sp>
        <p:nvSpPr>
          <p:cNvPr id="9" name="Text 7"/>
          <p:cNvSpPr/>
          <p:nvPr/>
        </p:nvSpPr>
        <p:spPr>
          <a:xfrm>
            <a:off x="3355848" y="1828800"/>
            <a:ext cx="2432304" cy="777240"/>
          </a:xfrm>
          <a:prstGeom prst="rect">
            <a:avLst/>
          </a:prstGeom>
          <a:noFill/>
          <a:ln/>
        </p:spPr>
        <p:txBody>
          <a:bodyPr wrap="square" lIns="0" tIns="0" rIns="0" bIns="0" rtlCol="0" anchor="ctr"/>
          <a:lstStyle/>
          <a:p>
            <a:pPr marL="0" indent="0">
              <a:buNone/>
            </a:pPr>
            <a:endParaRPr lang="en-US" sz="1100" dirty="0"/>
          </a:p>
        </p:txBody>
      </p:sp>
      <p:sp>
        <p:nvSpPr>
          <p:cNvPr id="11" name="Text 9"/>
          <p:cNvSpPr/>
          <p:nvPr/>
        </p:nvSpPr>
        <p:spPr>
          <a:xfrm>
            <a:off x="6190488" y="1389888"/>
            <a:ext cx="2432304" cy="384048"/>
          </a:xfrm>
          <a:prstGeom prst="rect">
            <a:avLst/>
          </a:prstGeom>
          <a:noFill/>
          <a:ln/>
        </p:spPr>
        <p:txBody>
          <a:bodyPr wrap="square" lIns="0" tIns="0" rIns="0" bIns="0" rtlCol="0" anchor="ctr"/>
          <a:lstStyle/>
          <a:p>
            <a:pPr marL="0" indent="0">
              <a:buNone/>
            </a:pPr>
            <a:endParaRPr lang="en-US" sz="1300" dirty="0"/>
          </a:p>
        </p:txBody>
      </p:sp>
      <p:sp>
        <p:nvSpPr>
          <p:cNvPr id="12" name="Text 10"/>
          <p:cNvSpPr/>
          <p:nvPr/>
        </p:nvSpPr>
        <p:spPr>
          <a:xfrm>
            <a:off x="6190488" y="1828800"/>
            <a:ext cx="2432304" cy="777240"/>
          </a:xfrm>
          <a:prstGeom prst="rect">
            <a:avLst/>
          </a:prstGeom>
          <a:noFill/>
          <a:ln/>
        </p:spPr>
        <p:txBody>
          <a:bodyPr wrap="square" lIns="0" tIns="0" rIns="0" bIns="0" rtlCol="0" anchor="ctr"/>
          <a:lstStyle/>
          <a:p>
            <a:pPr marL="0" indent="0">
              <a:buNone/>
            </a:pPr>
            <a:endParaRPr lang="en-US" sz="1100" dirty="0"/>
          </a:p>
        </p:txBody>
      </p:sp>
      <p:sp>
        <p:nvSpPr>
          <p:cNvPr id="13" name="Shape 11"/>
          <p:cNvSpPr/>
          <p:nvPr/>
        </p:nvSpPr>
        <p:spPr>
          <a:xfrm>
            <a:off x="1849902" y="3268980"/>
            <a:ext cx="2651760" cy="1572768"/>
          </a:xfrm>
          <a:prstGeom prst="roundRect">
            <a:avLst>
              <a:gd name="adj" fmla="val 6977"/>
            </a:avLst>
          </a:prstGeom>
          <a:solidFill>
            <a:srgbClr val="EDE8F7"/>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14" name="Text 12"/>
          <p:cNvSpPr/>
          <p:nvPr/>
        </p:nvSpPr>
        <p:spPr>
          <a:xfrm>
            <a:off x="2139696" y="3200400"/>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  NLP </a:t>
            </a:r>
            <a:endParaRPr lang="en-US" sz="1300" dirty="0"/>
          </a:p>
        </p:txBody>
      </p:sp>
      <p:sp>
        <p:nvSpPr>
          <p:cNvPr id="15" name="Text 13"/>
          <p:cNvSpPr/>
          <p:nvPr/>
        </p:nvSpPr>
        <p:spPr>
          <a:xfrm flipV="1">
            <a:off x="2973558" y="7080864"/>
            <a:ext cx="743911" cy="45719"/>
          </a:xfrm>
          <a:prstGeom prst="rect">
            <a:avLst/>
          </a:prstGeom>
          <a:noFill/>
          <a:ln/>
        </p:spPr>
        <p:txBody>
          <a:bodyPr wrap="square" lIns="0" tIns="0" rIns="0" bIns="0" rtlCol="0" anchor="ctr"/>
          <a:lstStyle/>
          <a:p>
            <a:pPr marL="0" indent="0">
              <a:buNone/>
            </a:pPr>
            <a:endParaRPr lang="en-US" sz="1100" dirty="0"/>
          </a:p>
        </p:txBody>
      </p:sp>
      <p:sp>
        <p:nvSpPr>
          <p:cNvPr id="16" name="Shape 14"/>
          <p:cNvSpPr/>
          <p:nvPr/>
        </p:nvSpPr>
        <p:spPr>
          <a:xfrm>
            <a:off x="5701811" y="3223484"/>
            <a:ext cx="2651760" cy="1572768"/>
          </a:xfrm>
          <a:prstGeom prst="roundRect">
            <a:avLst>
              <a:gd name="adj" fmla="val 6977"/>
            </a:avLst>
          </a:prstGeom>
          <a:solidFill>
            <a:srgbClr val="FEF0E7"/>
          </a:solidFill>
          <a:ln w="12700">
            <a:solidFill>
              <a:srgbClr val="7C5CBF">
                <a:alpha val="24000"/>
              </a:srgbClr>
            </a:solidFill>
            <a:prstDash val="solid"/>
          </a:ln>
          <a:effectLst>
            <a:outerShdw blurRad="101600" dist="25400" dir="8100000" algn="bl" rotWithShape="0">
              <a:srgbClr val="9B8FBB">
                <a:alpha val="13000"/>
              </a:srgbClr>
            </a:outerShdw>
          </a:effectLst>
        </p:spPr>
        <p:txBody>
          <a:bodyPr/>
          <a:lstStyle/>
          <a:p>
            <a:endParaRPr lang="en-IN" dirty="0"/>
          </a:p>
        </p:txBody>
      </p:sp>
      <p:sp>
        <p:nvSpPr>
          <p:cNvPr id="17" name="Text 15"/>
          <p:cNvSpPr/>
          <p:nvPr/>
        </p:nvSpPr>
        <p:spPr>
          <a:xfrm>
            <a:off x="6355080" y="3200400"/>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Fraud detection</a:t>
            </a:r>
            <a:endParaRPr lang="en-US" sz="1300" dirty="0"/>
          </a:p>
        </p:txBody>
      </p:sp>
      <p:sp>
        <p:nvSpPr>
          <p:cNvPr id="18" name="Text 16"/>
          <p:cNvSpPr/>
          <p:nvPr/>
        </p:nvSpPr>
        <p:spPr>
          <a:xfrm>
            <a:off x="6035040" y="3666744"/>
            <a:ext cx="2651760" cy="777240"/>
          </a:xfrm>
          <a:prstGeom prst="rect">
            <a:avLst/>
          </a:prstGeom>
          <a:noFill/>
          <a:ln/>
        </p:spPr>
        <p:txBody>
          <a:bodyPr wrap="square" lIns="0" tIns="0" rIns="0" bIns="0" rtlCol="0" anchor="ctr"/>
          <a:lstStyle/>
          <a:p>
            <a:pPr marL="0" indent="0">
              <a:buNone/>
            </a:pPr>
            <a:endParaRPr lang="en-US" sz="1100" dirty="0"/>
          </a:p>
        </p:txBody>
      </p:sp>
      <p:sp>
        <p:nvSpPr>
          <p:cNvPr id="20" name="Text 18"/>
          <p:cNvSpPr/>
          <p:nvPr/>
        </p:nvSpPr>
        <p:spPr>
          <a:xfrm>
            <a:off x="6190488" y="3172968"/>
            <a:ext cx="2432304" cy="384048"/>
          </a:xfrm>
          <a:prstGeom prst="rect">
            <a:avLst/>
          </a:prstGeom>
          <a:noFill/>
          <a:ln/>
        </p:spPr>
        <p:txBody>
          <a:bodyPr wrap="square" lIns="0" tIns="0" rIns="0" bIns="0" rtlCol="0" anchor="ctr"/>
          <a:lstStyle/>
          <a:p>
            <a:pPr marL="0" indent="0">
              <a:buNone/>
            </a:pPr>
            <a:endParaRPr lang="en-US" sz="1300" dirty="0"/>
          </a:p>
        </p:txBody>
      </p:sp>
      <p:sp>
        <p:nvSpPr>
          <p:cNvPr id="21" name="Text 19"/>
          <p:cNvSpPr/>
          <p:nvPr/>
        </p:nvSpPr>
        <p:spPr>
          <a:xfrm>
            <a:off x="6190488" y="3611880"/>
            <a:ext cx="2432304" cy="777240"/>
          </a:xfrm>
          <a:prstGeom prst="rect">
            <a:avLst/>
          </a:prstGeom>
          <a:noFill/>
          <a:ln/>
        </p:spPr>
        <p:txBody>
          <a:bodyPr wrap="square" lIns="0" tIns="0" rIns="0" bIns="0" rtlCol="0" anchor="ctr"/>
          <a:lstStyle/>
          <a:p>
            <a:pPr marL="0" indent="0">
              <a:buNone/>
            </a:pPr>
            <a:endParaRPr lang="en-US" sz="1100" dirty="0"/>
          </a:p>
        </p:txBody>
      </p:sp>
      <p:sp>
        <p:nvSpPr>
          <p:cNvPr id="22" name="Rectangle 1">
            <a:extLst>
              <a:ext uri="{FF2B5EF4-FFF2-40B4-BE49-F238E27FC236}">
                <a16:creationId xmlns:a16="http://schemas.microsoft.com/office/drawing/2014/main" id="{A4B6C4A9-075F-F55B-16F8-D765B6663D4E}"/>
              </a:ext>
            </a:extLst>
          </p:cNvPr>
          <p:cNvSpPr>
            <a:spLocks noChangeArrowheads="1"/>
          </p:cNvSpPr>
          <p:nvPr/>
        </p:nvSpPr>
        <p:spPr bwMode="auto">
          <a:xfrm>
            <a:off x="521208" y="830247"/>
            <a:ext cx="83727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Artificial Intelligence and Natural Language Processing are transforming how we interact with financial services. These technologies enable automated decision-making and intuitive communication between users and financial systems.</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24" name="Rectangle 3">
            <a:extLst>
              <a:ext uri="{FF2B5EF4-FFF2-40B4-BE49-F238E27FC236}">
                <a16:creationId xmlns:a16="http://schemas.microsoft.com/office/drawing/2014/main" id="{40299807-0604-7141-594D-F4CDDD725DD0}"/>
              </a:ext>
            </a:extLst>
          </p:cNvPr>
          <p:cNvSpPr>
            <a:spLocks noChangeArrowheads="1"/>
          </p:cNvSpPr>
          <p:nvPr/>
        </p:nvSpPr>
        <p:spPr bwMode="auto">
          <a:xfrm>
            <a:off x="358726" y="1968332"/>
            <a:ext cx="2594786"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lumMod val="75000"/>
                    <a:lumOff val="25000"/>
                  </a:schemeClr>
                </a:solidFill>
                <a:effectLst/>
                <a:latin typeface="Arial" panose="020B0604020202020204" pitchFamily="34" charset="0"/>
              </a:rPr>
              <a:t>Automates complex financial decision-making processes, enabling faster and more accurate outcomes.</a:t>
            </a:r>
          </a:p>
        </p:txBody>
      </p:sp>
      <p:sp>
        <p:nvSpPr>
          <p:cNvPr id="26" name="Rectangle 5">
            <a:extLst>
              <a:ext uri="{FF2B5EF4-FFF2-40B4-BE49-F238E27FC236}">
                <a16:creationId xmlns:a16="http://schemas.microsoft.com/office/drawing/2014/main" id="{98D4376A-BF28-1F65-79F7-8F2C06FCABE1}"/>
              </a:ext>
            </a:extLst>
          </p:cNvPr>
          <p:cNvSpPr>
            <a:spLocks noChangeArrowheads="1"/>
          </p:cNvSpPr>
          <p:nvPr/>
        </p:nvSpPr>
        <p:spPr bwMode="auto">
          <a:xfrm>
            <a:off x="4681728" y="1952517"/>
            <a:ext cx="27249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lumMod val="75000"/>
                    <a:lumOff val="25000"/>
                  </a:schemeClr>
                </a:solidFill>
                <a:effectLst/>
                <a:latin typeface="Arial" panose="020B0604020202020204" pitchFamily="34" charset="0"/>
              </a:rPr>
              <a:t>AI-powered chatbots provide instant customer support and personalized financial guidance 24/7.</a:t>
            </a:r>
            <a:endParaRPr kumimoji="0" lang="en-US" altLang="en-US" sz="1800" b="0" i="0" u="none" strike="noStrike" cap="none" normalizeH="0" baseline="0" dirty="0">
              <a:ln>
                <a:noFill/>
              </a:ln>
              <a:solidFill>
                <a:schemeClr val="tx1">
                  <a:lumMod val="75000"/>
                  <a:lumOff val="25000"/>
                </a:schemeClr>
              </a:solidFill>
              <a:effectLst/>
              <a:latin typeface="Arial" panose="020B0604020202020204" pitchFamily="34" charset="0"/>
            </a:endParaRPr>
          </a:p>
        </p:txBody>
      </p:sp>
      <p:sp>
        <p:nvSpPr>
          <p:cNvPr id="27" name="Rectangle 6">
            <a:extLst>
              <a:ext uri="{FF2B5EF4-FFF2-40B4-BE49-F238E27FC236}">
                <a16:creationId xmlns:a16="http://schemas.microsoft.com/office/drawing/2014/main" id="{C6D14D30-D0F9-A619-72DF-D51B27B4C2BC}"/>
              </a:ext>
            </a:extLst>
          </p:cNvPr>
          <p:cNvSpPr>
            <a:spLocks noChangeArrowheads="1"/>
          </p:cNvSpPr>
          <p:nvPr/>
        </p:nvSpPr>
        <p:spPr bwMode="auto">
          <a:xfrm>
            <a:off x="1777453" y="3702040"/>
            <a:ext cx="27966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lumMod val="75000"/>
                    <a:lumOff val="25000"/>
                  </a:schemeClr>
                </a:solidFill>
                <a:effectLst/>
                <a:latin typeface="Arial" panose="020B0604020202020204" pitchFamily="34" charset="0"/>
              </a:rPr>
              <a:t>Understands user queries in human language, making financial tools accessible to everyone.</a:t>
            </a:r>
            <a:endParaRPr kumimoji="0" lang="en-US" altLang="en-US" sz="1800" b="0" i="0" u="none" strike="noStrike" cap="none" normalizeH="0" baseline="0" dirty="0">
              <a:ln>
                <a:noFill/>
              </a:ln>
              <a:solidFill>
                <a:schemeClr val="tx1">
                  <a:lumMod val="75000"/>
                  <a:lumOff val="25000"/>
                </a:schemeClr>
              </a:solidFill>
              <a:effectLst/>
              <a:latin typeface="Arial" panose="020B0604020202020204" pitchFamily="34" charset="0"/>
            </a:endParaRPr>
          </a:p>
        </p:txBody>
      </p:sp>
      <p:sp>
        <p:nvSpPr>
          <p:cNvPr id="29" name="Rectangle 7">
            <a:extLst>
              <a:ext uri="{FF2B5EF4-FFF2-40B4-BE49-F238E27FC236}">
                <a16:creationId xmlns:a16="http://schemas.microsoft.com/office/drawing/2014/main" id="{A4E5EBF2-D7C7-9356-7C1C-20C16E09DA84}"/>
              </a:ext>
            </a:extLst>
          </p:cNvPr>
          <p:cNvSpPr>
            <a:spLocks noChangeArrowheads="1"/>
          </p:cNvSpPr>
          <p:nvPr/>
        </p:nvSpPr>
        <p:spPr bwMode="auto">
          <a:xfrm>
            <a:off x="5701811" y="3639312"/>
            <a:ext cx="25110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lumMod val="75000"/>
                    <a:lumOff val="25000"/>
                  </a:schemeClr>
                </a:solidFill>
                <a:effectLst/>
                <a:latin typeface="Arial" panose="020B0604020202020204" pitchFamily="34" charset="0"/>
              </a:rPr>
              <a:t>Machine learning algorithms detect suspicious patterns and protect users from financial fraud</a:t>
            </a:r>
            <a:r>
              <a:rPr kumimoji="0" lang="en-US" altLang="en-US" sz="1200" b="0" i="0" u="none" strike="noStrike" cap="none" normalizeH="0" baseline="0" dirty="0">
                <a:ln>
                  <a:noFill/>
                </a:ln>
                <a:solidFill>
                  <a:srgbClr val="FFFFFF"/>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E6F4F1"/>
        </a:solidFill>
        <a:effectLst/>
      </p:bgPr>
    </p:bg>
    <p:spTree>
      <p:nvGrpSpPr>
        <p:cNvPr id="1" name=""/>
        <p:cNvGrpSpPr/>
        <p:nvPr/>
      </p:nvGrpSpPr>
      <p:grpSpPr>
        <a:xfrm>
          <a:off x="0" y="0"/>
          <a:ext cx="0" cy="0"/>
          <a:chOff x="0" y="0"/>
          <a:chExt cx="0" cy="0"/>
        </a:xfrm>
      </p:grpSpPr>
      <p:sp>
        <p:nvSpPr>
          <p:cNvPr id="2" name="Shape 0"/>
          <p:cNvSpPr/>
          <p:nvPr/>
        </p:nvSpPr>
        <p:spPr>
          <a:xfrm>
            <a:off x="8046720" y="3657600"/>
            <a:ext cx="1645920" cy="1645920"/>
          </a:xfrm>
          <a:prstGeom prst="ellipse">
            <a:avLst/>
          </a:prstGeom>
          <a:solidFill>
            <a:srgbClr val="C9637A">
              <a:alpha val="16000"/>
            </a:srgbClr>
          </a:solidFill>
          <a:ln w="12700">
            <a:solidFill>
              <a:srgbClr val="C9637A">
                <a:alpha val="16000"/>
              </a:srgbClr>
            </a:solidFill>
            <a:prstDash val="solid"/>
          </a:ln>
        </p:spPr>
      </p:sp>
      <p:sp>
        <p:nvSpPr>
          <p:cNvPr id="3" name="Text 1"/>
          <p:cNvSpPr/>
          <p:nvPr/>
        </p:nvSpPr>
        <p:spPr>
          <a:xfrm>
            <a:off x="1582615" y="269747"/>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 </a:t>
            </a:r>
            <a:r>
              <a:rPr lang="en-US" sz="2800" b="1" dirty="0" err="1">
                <a:solidFill>
                  <a:srgbClr val="3D3455"/>
                </a:solidFill>
                <a:latin typeface="Georgia" pitchFamily="34" charset="0"/>
                <a:ea typeface="Georgia" pitchFamily="34" charset="-122"/>
                <a:cs typeface="Georgia" pitchFamily="34" charset="-120"/>
              </a:rPr>
              <a:t>Dialogflow</a:t>
            </a:r>
            <a:r>
              <a:rPr lang="en-US" sz="2800" b="1" dirty="0">
                <a:solidFill>
                  <a:srgbClr val="3D3455"/>
                </a:solidFill>
                <a:latin typeface="Georgia" pitchFamily="34" charset="0"/>
                <a:ea typeface="Georgia" pitchFamily="34" charset="-122"/>
                <a:cs typeface="Georgia" pitchFamily="34" charset="-120"/>
              </a:rPr>
              <a:t> </a:t>
            </a:r>
            <a:r>
              <a:rPr lang="en-US" sz="2800" b="1" dirty="0" err="1">
                <a:solidFill>
                  <a:srgbClr val="3D3455"/>
                </a:solidFill>
                <a:latin typeface="Georgia" pitchFamily="34" charset="0"/>
                <a:ea typeface="Georgia" pitchFamily="34" charset="-122"/>
                <a:cs typeface="Georgia" pitchFamily="34" charset="-120"/>
              </a:rPr>
              <a:t>Architecuture</a:t>
            </a:r>
            <a:endParaRPr lang="en-US" sz="2800" dirty="0"/>
          </a:p>
        </p:txBody>
      </p:sp>
      <p:sp>
        <p:nvSpPr>
          <p:cNvPr id="4" name="Text 2"/>
          <p:cNvSpPr/>
          <p:nvPr/>
        </p:nvSpPr>
        <p:spPr>
          <a:xfrm flipV="1">
            <a:off x="457199" y="795528"/>
            <a:ext cx="7742155" cy="45719"/>
          </a:xfrm>
          <a:prstGeom prst="rect">
            <a:avLst/>
          </a:prstGeom>
          <a:noFill/>
          <a:ln/>
        </p:spPr>
        <p:txBody>
          <a:bodyPr wrap="square" lIns="0" tIns="0" rIns="0" bIns="0" rtlCol="0" anchor="ctr"/>
          <a:lstStyle/>
          <a:p>
            <a:pPr marL="0" indent="0">
              <a:buNone/>
            </a:pPr>
            <a:endParaRPr lang="en-US" sz="1300" dirty="0"/>
          </a:p>
        </p:txBody>
      </p:sp>
      <p:sp>
        <p:nvSpPr>
          <p:cNvPr id="5" name="Shape 3"/>
          <p:cNvSpPr/>
          <p:nvPr/>
        </p:nvSpPr>
        <p:spPr>
          <a:xfrm>
            <a:off x="411480" y="1664208"/>
            <a:ext cx="8321040" cy="777240"/>
          </a:xfrm>
          <a:prstGeom prst="roundRect">
            <a:avLst>
              <a:gd name="adj" fmla="val 11765"/>
            </a:avLst>
          </a:prstGeom>
          <a:solidFill>
            <a:srgbClr val="E3EEF8"/>
          </a:solidFill>
          <a:ln w="12700">
            <a:solidFill>
              <a:srgbClr val="7C5CBF">
                <a:alpha val="30000"/>
              </a:srgbClr>
            </a:solidFill>
            <a:prstDash val="solid"/>
          </a:ln>
          <a:effectLst>
            <a:outerShdw blurRad="101600" dist="25400" dir="8100000" algn="bl" rotWithShape="0">
              <a:srgbClr val="9B8FBB">
                <a:alpha val="13000"/>
              </a:srgbClr>
            </a:outerShdw>
          </a:effectLst>
        </p:spPr>
      </p:sp>
      <p:sp>
        <p:nvSpPr>
          <p:cNvPr id="6" name="Text 4"/>
          <p:cNvSpPr/>
          <p:nvPr/>
        </p:nvSpPr>
        <p:spPr>
          <a:xfrm>
            <a:off x="594360" y="1723292"/>
            <a:ext cx="7955280" cy="648070"/>
          </a:xfrm>
          <a:prstGeom prst="rect">
            <a:avLst/>
          </a:prstGeom>
          <a:noFill/>
          <a:ln/>
        </p:spPr>
        <p:txBody>
          <a:bodyPr wrap="square" lIns="0" tIns="0" rIns="0" bIns="0" rtlCol="0" anchor="ctr"/>
          <a:lstStyle/>
          <a:p>
            <a:pPr marL="0" indent="0">
              <a:buNone/>
            </a:pPr>
            <a:r>
              <a:rPr lang="en-US" sz="1200" dirty="0">
                <a:solidFill>
                  <a:srgbClr val="3D3455"/>
                </a:solidFill>
                <a:latin typeface="Calibri" pitchFamily="34" charset="0"/>
                <a:ea typeface="Calibri" pitchFamily="34" charset="-122"/>
                <a:cs typeface="Calibri" pitchFamily="34" charset="-120"/>
              </a:rPr>
              <a:t>👤  </a:t>
            </a:r>
            <a:r>
              <a:rPr lang="en-US" sz="1600" b="1" dirty="0">
                <a:solidFill>
                  <a:srgbClr val="3D3455"/>
                </a:solidFill>
                <a:latin typeface="Calibri" pitchFamily="34" charset="0"/>
                <a:ea typeface="Calibri" pitchFamily="34" charset="-122"/>
                <a:cs typeface="Calibri" pitchFamily="34" charset="-120"/>
              </a:rPr>
              <a:t>User input </a:t>
            </a:r>
            <a:endParaRPr lang="en-US" sz="1600" b="1" dirty="0"/>
          </a:p>
        </p:txBody>
      </p:sp>
      <p:sp>
        <p:nvSpPr>
          <p:cNvPr id="7" name="Shape 5"/>
          <p:cNvSpPr/>
          <p:nvPr/>
        </p:nvSpPr>
        <p:spPr>
          <a:xfrm>
            <a:off x="411480" y="2554242"/>
            <a:ext cx="8321040" cy="777240"/>
          </a:xfrm>
          <a:prstGeom prst="roundRect">
            <a:avLst>
              <a:gd name="adj" fmla="val 11765"/>
            </a:avLst>
          </a:prstGeom>
          <a:solidFill>
            <a:srgbClr val="E3F5F0"/>
          </a:solidFill>
          <a:ln w="12700">
            <a:solidFill>
              <a:srgbClr val="3A9E8D">
                <a:alpha val="30000"/>
              </a:srgbClr>
            </a:solidFill>
            <a:prstDash val="solid"/>
          </a:ln>
          <a:effectLst>
            <a:outerShdw blurRad="101600" dist="25400" dir="8100000" algn="bl" rotWithShape="0">
              <a:srgbClr val="9B8FBB">
                <a:alpha val="13000"/>
              </a:srgbClr>
            </a:outerShdw>
          </a:effectLst>
        </p:spPr>
      </p:sp>
      <p:sp>
        <p:nvSpPr>
          <p:cNvPr id="8" name="Text 6"/>
          <p:cNvSpPr/>
          <p:nvPr/>
        </p:nvSpPr>
        <p:spPr>
          <a:xfrm>
            <a:off x="594360" y="2554242"/>
            <a:ext cx="7955280" cy="798594"/>
          </a:xfrm>
          <a:prstGeom prst="rect">
            <a:avLst/>
          </a:prstGeom>
          <a:noFill/>
          <a:ln/>
        </p:spPr>
        <p:txBody>
          <a:bodyPr wrap="square" lIns="0" tIns="0" rIns="0" bIns="0" rtlCol="0" anchor="ctr"/>
          <a:lstStyle/>
          <a:p>
            <a:pPr marL="0" indent="0">
              <a:buNone/>
            </a:pPr>
            <a:r>
              <a:rPr lang="en-US" sz="1200" dirty="0">
                <a:solidFill>
                  <a:srgbClr val="3D3455"/>
                </a:solidFill>
                <a:latin typeface="Calibri" pitchFamily="34" charset="0"/>
                <a:ea typeface="Calibri" pitchFamily="34" charset="-122"/>
                <a:cs typeface="Calibri" pitchFamily="34" charset="-120"/>
              </a:rPr>
              <a:t>🤖  </a:t>
            </a:r>
            <a:r>
              <a:rPr lang="en-US" sz="1600" b="1" dirty="0">
                <a:solidFill>
                  <a:srgbClr val="3D3455"/>
                </a:solidFill>
                <a:latin typeface="Calibri" pitchFamily="34" charset="0"/>
                <a:ea typeface="Calibri" pitchFamily="34" charset="-122"/>
                <a:cs typeface="Calibri" pitchFamily="34" charset="-120"/>
              </a:rPr>
              <a:t>NLP Processing</a:t>
            </a:r>
            <a:endParaRPr lang="en-US" sz="1600" b="1" dirty="0"/>
          </a:p>
        </p:txBody>
      </p:sp>
      <p:sp>
        <p:nvSpPr>
          <p:cNvPr id="9" name="Shape 7"/>
          <p:cNvSpPr/>
          <p:nvPr/>
        </p:nvSpPr>
        <p:spPr>
          <a:xfrm>
            <a:off x="411480" y="3444276"/>
            <a:ext cx="8321040" cy="777240"/>
          </a:xfrm>
          <a:prstGeom prst="roundRect">
            <a:avLst>
              <a:gd name="adj" fmla="val 11765"/>
            </a:avLst>
          </a:prstGeom>
          <a:solidFill>
            <a:srgbClr val="E3EEF8"/>
          </a:solidFill>
          <a:ln w="12700">
            <a:solidFill>
              <a:srgbClr val="7C5CBF">
                <a:alpha val="30000"/>
              </a:srgbClr>
            </a:solidFill>
            <a:prstDash val="solid"/>
          </a:ln>
          <a:effectLst>
            <a:outerShdw blurRad="101600" dist="25400" dir="8100000" algn="bl" rotWithShape="0">
              <a:srgbClr val="9B8FBB">
                <a:alpha val="13000"/>
              </a:srgbClr>
            </a:outerShdw>
          </a:effectLst>
        </p:spPr>
      </p:sp>
      <p:sp>
        <p:nvSpPr>
          <p:cNvPr id="10" name="Text 8"/>
          <p:cNvSpPr/>
          <p:nvPr/>
        </p:nvSpPr>
        <p:spPr>
          <a:xfrm>
            <a:off x="594360" y="3218688"/>
            <a:ext cx="7955280" cy="594360"/>
          </a:xfrm>
          <a:prstGeom prst="rect">
            <a:avLst/>
          </a:prstGeom>
          <a:noFill/>
          <a:ln/>
        </p:spPr>
        <p:txBody>
          <a:bodyPr wrap="square" lIns="0" tIns="0" rIns="0" bIns="0" rtlCol="0" anchor="ctr"/>
          <a:lstStyle/>
          <a:p>
            <a:pPr marL="0" indent="0">
              <a:buNone/>
            </a:pPr>
            <a:endParaRPr lang="en-US" sz="1200" dirty="0">
              <a:solidFill>
                <a:srgbClr val="3D3455"/>
              </a:solidFill>
              <a:latin typeface="Calibri" pitchFamily="34" charset="0"/>
              <a:ea typeface="Calibri" pitchFamily="34" charset="-122"/>
              <a:cs typeface="Calibri" pitchFamily="34" charset="-120"/>
            </a:endParaRPr>
          </a:p>
          <a:p>
            <a:pPr marL="0" indent="0">
              <a:buNone/>
            </a:pPr>
            <a:endParaRPr lang="en-US" sz="1200" dirty="0">
              <a:solidFill>
                <a:srgbClr val="3D3455"/>
              </a:solidFill>
              <a:latin typeface="Calibri" pitchFamily="34" charset="0"/>
              <a:ea typeface="Calibri" pitchFamily="34" charset="-122"/>
              <a:cs typeface="Calibri" pitchFamily="34" charset="-120"/>
            </a:endParaRPr>
          </a:p>
          <a:p>
            <a:pPr marL="0" indent="0">
              <a:buNone/>
            </a:pPr>
            <a:endParaRPr lang="en-US" sz="1200" dirty="0">
              <a:solidFill>
                <a:srgbClr val="3D3455"/>
              </a:solidFill>
              <a:latin typeface="Calibri" pitchFamily="34" charset="0"/>
              <a:ea typeface="Calibri" pitchFamily="34" charset="-122"/>
              <a:cs typeface="Calibri" pitchFamily="34" charset="-120"/>
            </a:endParaRPr>
          </a:p>
          <a:p>
            <a:pPr marL="0" indent="0">
              <a:buNone/>
            </a:pPr>
            <a:r>
              <a:rPr lang="en-US" sz="1200" dirty="0">
                <a:solidFill>
                  <a:srgbClr val="3D3455"/>
                </a:solidFill>
                <a:latin typeface="Calibri" pitchFamily="34" charset="0"/>
                <a:ea typeface="Calibri" pitchFamily="34" charset="-122"/>
                <a:cs typeface="Calibri" pitchFamily="34" charset="-120"/>
              </a:rPr>
              <a:t>👤  </a:t>
            </a:r>
            <a:r>
              <a:rPr lang="en-US" sz="1600" b="1" dirty="0">
                <a:solidFill>
                  <a:srgbClr val="3D3455"/>
                </a:solidFill>
                <a:latin typeface="Calibri" pitchFamily="34" charset="0"/>
                <a:ea typeface="Calibri" pitchFamily="34" charset="-122"/>
                <a:cs typeface="Calibri" pitchFamily="34" charset="-120"/>
              </a:rPr>
              <a:t>Intent Recognition</a:t>
            </a:r>
            <a:endParaRPr lang="en-US" sz="1600" b="1" dirty="0"/>
          </a:p>
        </p:txBody>
      </p:sp>
      <p:sp>
        <p:nvSpPr>
          <p:cNvPr id="11" name="Shape 9"/>
          <p:cNvSpPr/>
          <p:nvPr/>
        </p:nvSpPr>
        <p:spPr>
          <a:xfrm>
            <a:off x="411480" y="4312956"/>
            <a:ext cx="8321040" cy="777240"/>
          </a:xfrm>
          <a:prstGeom prst="roundRect">
            <a:avLst>
              <a:gd name="adj" fmla="val 11765"/>
            </a:avLst>
          </a:prstGeom>
          <a:solidFill>
            <a:srgbClr val="E3F5F0"/>
          </a:solidFill>
          <a:ln w="12700">
            <a:solidFill>
              <a:srgbClr val="3A9E8D">
                <a:alpha val="30000"/>
              </a:srgbClr>
            </a:solidFill>
            <a:prstDash val="solid"/>
          </a:ln>
          <a:effectLst>
            <a:outerShdw blurRad="101600" dist="25400" dir="8100000" algn="bl" rotWithShape="0">
              <a:srgbClr val="9B8FBB">
                <a:alpha val="13000"/>
              </a:srgbClr>
            </a:outerShdw>
          </a:effectLst>
        </p:spPr>
      </p:sp>
      <p:sp>
        <p:nvSpPr>
          <p:cNvPr id="12" name="Text 10"/>
          <p:cNvSpPr/>
          <p:nvPr/>
        </p:nvSpPr>
        <p:spPr>
          <a:xfrm>
            <a:off x="594360" y="4312956"/>
            <a:ext cx="7955280" cy="597371"/>
          </a:xfrm>
          <a:prstGeom prst="rect">
            <a:avLst/>
          </a:prstGeom>
          <a:noFill/>
          <a:ln/>
        </p:spPr>
        <p:txBody>
          <a:bodyPr wrap="square" lIns="0" tIns="0" rIns="0" bIns="0" rtlCol="0" anchor="ctr"/>
          <a:lstStyle/>
          <a:p>
            <a:pPr marL="0" indent="0">
              <a:buNone/>
            </a:pPr>
            <a:endParaRPr lang="en-US" sz="1600" b="1" dirty="0">
              <a:solidFill>
                <a:srgbClr val="3D3455"/>
              </a:solidFill>
              <a:latin typeface="Calibri" pitchFamily="34" charset="0"/>
              <a:ea typeface="Calibri" pitchFamily="34" charset="-122"/>
              <a:cs typeface="Calibri" pitchFamily="34" charset="-120"/>
            </a:endParaRPr>
          </a:p>
          <a:p>
            <a:pPr marL="0" indent="0">
              <a:buNone/>
            </a:pPr>
            <a:r>
              <a:rPr lang="en-US" sz="1600" b="1" dirty="0">
                <a:solidFill>
                  <a:srgbClr val="3D3455"/>
                </a:solidFill>
                <a:latin typeface="Calibri" pitchFamily="34" charset="0"/>
                <a:ea typeface="Calibri" pitchFamily="34" charset="-122"/>
                <a:cs typeface="Calibri" pitchFamily="34" charset="-120"/>
              </a:rPr>
              <a:t>🤖  Response Output</a:t>
            </a:r>
            <a:endParaRPr lang="en-US" sz="1600" b="1" dirty="0"/>
          </a:p>
        </p:txBody>
      </p:sp>
      <p:sp>
        <p:nvSpPr>
          <p:cNvPr id="13" name="Rectangle 1">
            <a:extLst>
              <a:ext uri="{FF2B5EF4-FFF2-40B4-BE49-F238E27FC236}">
                <a16:creationId xmlns:a16="http://schemas.microsoft.com/office/drawing/2014/main" id="{4F2C35C7-0248-CF35-9AA6-5FBB9CB80B2C}"/>
              </a:ext>
            </a:extLst>
          </p:cNvPr>
          <p:cNvSpPr>
            <a:spLocks noChangeArrowheads="1"/>
          </p:cNvSpPr>
          <p:nvPr/>
        </p:nvSpPr>
        <p:spPr bwMode="auto">
          <a:xfrm>
            <a:off x="175846" y="897092"/>
            <a:ext cx="860239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The AI-powered finance assistant uses </a:t>
            </a:r>
            <a:r>
              <a:rPr kumimoji="0" lang="en-US" altLang="en-US" sz="1200" b="0" i="0" u="none" strike="noStrike" cap="none" normalizeH="0" baseline="0" dirty="0" err="1">
                <a:ln>
                  <a:noFill/>
                </a:ln>
                <a:solidFill>
                  <a:srgbClr val="000000"/>
                </a:solidFill>
                <a:effectLst/>
                <a:latin typeface="Arial" panose="020B0604020202020204" pitchFamily="34" charset="0"/>
              </a:rPr>
              <a:t>Dialogflow's</a:t>
            </a:r>
            <a:r>
              <a:rPr kumimoji="0" lang="en-US" altLang="en-US" sz="1200" b="0" i="0" u="none" strike="noStrike" cap="none" normalizeH="0" baseline="0" dirty="0">
                <a:ln>
                  <a:noFill/>
                </a:ln>
                <a:solidFill>
                  <a:srgbClr val="000000"/>
                </a:solidFill>
                <a:effectLst/>
                <a:latin typeface="Arial" panose="020B0604020202020204" pitchFamily="34" charset="0"/>
              </a:rPr>
              <a:t> NLP engine to process user queries. When a user sends a message, </a:t>
            </a:r>
            <a:r>
              <a:rPr kumimoji="0" lang="en-US" altLang="en-US" sz="1200" b="0" i="0" u="none" strike="noStrike" cap="none" normalizeH="0" baseline="0" dirty="0" err="1">
                <a:ln>
                  <a:noFill/>
                </a:ln>
                <a:solidFill>
                  <a:srgbClr val="000000"/>
                </a:solidFill>
                <a:effectLst/>
                <a:latin typeface="Arial" panose="020B0604020202020204" pitchFamily="34" charset="0"/>
              </a:rPr>
              <a:t>Dialogflow</a:t>
            </a:r>
            <a:r>
              <a:rPr kumimoji="0" lang="en-US" altLang="en-US" sz="1200" b="0" i="0" u="none" strike="noStrike" cap="none" normalizeH="0" baseline="0" dirty="0">
                <a:ln>
                  <a:noFill/>
                </a:ln>
                <a:solidFill>
                  <a:srgbClr val="000000"/>
                </a:solidFill>
                <a:effectLst/>
                <a:latin typeface="Arial" panose="020B0604020202020204" pitchFamily="34" charset="0"/>
              </a:rPr>
              <a:t> analyzes the input, identifies the intent (loan eligibility, EMI calculation, or investment advice), extracts relevant entities (salary, loan amount, risk level), and generates an appropriate response.</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F4F1"/>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  </a:t>
            </a:r>
            <a:r>
              <a:rPr lang="en-US" sz="3200" b="1" dirty="0">
                <a:solidFill>
                  <a:srgbClr val="3D3455"/>
                </a:solidFill>
                <a:latin typeface="Georgia" pitchFamily="34" charset="0"/>
                <a:ea typeface="Georgia" pitchFamily="34" charset="-122"/>
                <a:cs typeface="Georgia" pitchFamily="34" charset="-120"/>
              </a:rPr>
              <a:t>How It Works</a:t>
            </a:r>
            <a:endParaRPr lang="en-US" sz="3200" dirty="0"/>
          </a:p>
        </p:txBody>
      </p:sp>
      <p:sp>
        <p:nvSpPr>
          <p:cNvPr id="3" name="Text 1"/>
          <p:cNvSpPr/>
          <p:nvPr/>
        </p:nvSpPr>
        <p:spPr>
          <a:xfrm>
            <a:off x="457200" y="868680"/>
            <a:ext cx="8229600" cy="320040"/>
          </a:xfrm>
          <a:prstGeom prst="rect">
            <a:avLst/>
          </a:prstGeom>
          <a:noFill/>
          <a:ln/>
        </p:spPr>
        <p:txBody>
          <a:bodyPr wrap="square" lIns="0" tIns="0" rIns="0" bIns="0" rtlCol="0" anchor="ctr"/>
          <a:lstStyle/>
          <a:p>
            <a:pPr marL="0" indent="0">
              <a:buNone/>
            </a:pPr>
            <a:r>
              <a:rPr lang="en-US" sz="1600" dirty="0">
                <a:solidFill>
                  <a:srgbClr val="5A5278"/>
                </a:solidFill>
                <a:latin typeface="Calibri" pitchFamily="34" charset="0"/>
                <a:ea typeface="Calibri" pitchFamily="34" charset="-122"/>
                <a:cs typeface="Calibri" pitchFamily="34" charset="-120"/>
              </a:rPr>
              <a:t>A simple 3-step conversation to get your financial answers</a:t>
            </a:r>
            <a:endParaRPr lang="en-US" sz="1600" dirty="0"/>
          </a:p>
        </p:txBody>
      </p:sp>
      <p:sp>
        <p:nvSpPr>
          <p:cNvPr id="4" name="Shape 2"/>
          <p:cNvSpPr/>
          <p:nvPr/>
        </p:nvSpPr>
        <p:spPr>
          <a:xfrm>
            <a:off x="411480" y="1371600"/>
            <a:ext cx="2651760" cy="3383280"/>
          </a:xfrm>
          <a:prstGeom prst="roundRect">
            <a:avLst>
              <a:gd name="adj" fmla="val 4828"/>
            </a:avLst>
          </a:prstGeom>
          <a:solidFill>
            <a:srgbClr val="FDEEF4"/>
          </a:solidFill>
          <a:ln w="12700">
            <a:solidFill>
              <a:srgbClr val="C9637A">
                <a:alpha val="32000"/>
              </a:srgbClr>
            </a:solidFill>
            <a:prstDash val="solid"/>
          </a:ln>
          <a:effectLst>
            <a:outerShdw blurRad="101600" dist="25400" dir="8100000" algn="bl" rotWithShape="0">
              <a:srgbClr val="9B8FBB">
                <a:alpha val="13000"/>
              </a:srgbClr>
            </a:outerShdw>
          </a:effectLst>
        </p:spPr>
      </p:sp>
      <p:sp>
        <p:nvSpPr>
          <p:cNvPr id="5" name="Shape 3"/>
          <p:cNvSpPr/>
          <p:nvPr/>
        </p:nvSpPr>
        <p:spPr>
          <a:xfrm>
            <a:off x="1371600" y="1481328"/>
            <a:ext cx="731520" cy="731520"/>
          </a:xfrm>
          <a:prstGeom prst="ellipse">
            <a:avLst/>
          </a:prstGeom>
          <a:solidFill>
            <a:srgbClr val="C9637A"/>
          </a:solidFill>
          <a:ln w="12700">
            <a:solidFill>
              <a:srgbClr val="C9637A"/>
            </a:solidFill>
            <a:prstDash val="solid"/>
          </a:ln>
        </p:spPr>
      </p:sp>
      <p:sp>
        <p:nvSpPr>
          <p:cNvPr id="6" name="Text 4"/>
          <p:cNvSpPr/>
          <p:nvPr/>
        </p:nvSpPr>
        <p:spPr>
          <a:xfrm>
            <a:off x="1371600" y="1481328"/>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Text 5"/>
          <p:cNvSpPr/>
          <p:nvPr/>
        </p:nvSpPr>
        <p:spPr>
          <a:xfrm>
            <a:off x="521208" y="2359152"/>
            <a:ext cx="2432304" cy="438912"/>
          </a:xfrm>
          <a:prstGeom prst="rect">
            <a:avLst/>
          </a:prstGeom>
          <a:noFill/>
          <a:ln/>
        </p:spPr>
        <p:txBody>
          <a:bodyPr wrap="square" lIns="0" tIns="0" rIns="0" bIns="0" rtlCol="0" anchor="ctr"/>
          <a:lstStyle/>
          <a:p>
            <a:pPr marL="0" indent="0" algn="ctr">
              <a:buNone/>
            </a:pPr>
            <a:r>
              <a:rPr lang="en-US" b="1" dirty="0">
                <a:solidFill>
                  <a:srgbClr val="3D3455"/>
                </a:solidFill>
                <a:latin typeface="Calibri" pitchFamily="34" charset="0"/>
                <a:ea typeface="Calibri" pitchFamily="34" charset="-122"/>
                <a:cs typeface="Calibri" pitchFamily="34" charset="-120"/>
              </a:rPr>
              <a:t>Choose a Service</a:t>
            </a:r>
            <a:endParaRPr lang="en-US" dirty="0"/>
          </a:p>
        </p:txBody>
      </p:sp>
      <p:sp>
        <p:nvSpPr>
          <p:cNvPr id="8" name="Text 6"/>
          <p:cNvSpPr/>
          <p:nvPr/>
        </p:nvSpPr>
        <p:spPr>
          <a:xfrm>
            <a:off x="521208" y="2852928"/>
            <a:ext cx="2432304" cy="1371600"/>
          </a:xfrm>
          <a:prstGeom prst="rect">
            <a:avLst/>
          </a:prstGeom>
          <a:noFill/>
          <a:ln/>
        </p:spPr>
        <p:txBody>
          <a:bodyPr wrap="square" lIns="0" tIns="0" rIns="0" bIns="0" rtlCol="0" anchor="ctr"/>
          <a:lstStyle/>
          <a:p>
            <a:pPr marL="0" indent="0" algn="ctr">
              <a:buNone/>
            </a:pPr>
            <a:r>
              <a:rPr lang="en-US" sz="1600" dirty="0">
                <a:solidFill>
                  <a:srgbClr val="6B6380"/>
                </a:solidFill>
                <a:latin typeface="Calibri" pitchFamily="34" charset="0"/>
                <a:ea typeface="Calibri" pitchFamily="34" charset="-122"/>
                <a:cs typeface="Calibri" pitchFamily="34" charset="-120"/>
              </a:rPr>
              <a:t>Select Loan Check,</a:t>
            </a:r>
            <a:endParaRPr lang="en-US" sz="1600" dirty="0"/>
          </a:p>
          <a:p>
            <a:pPr marL="0" indent="0" algn="ctr">
              <a:buNone/>
            </a:pPr>
            <a:r>
              <a:rPr lang="en-US" sz="1600" dirty="0">
                <a:solidFill>
                  <a:srgbClr val="6B6380"/>
                </a:solidFill>
                <a:latin typeface="Calibri" pitchFamily="34" charset="0"/>
                <a:ea typeface="Calibri" pitchFamily="34" charset="-122"/>
                <a:cs typeface="Calibri" pitchFamily="34" charset="-120"/>
              </a:rPr>
              <a:t>EMI Calculator, or</a:t>
            </a:r>
            <a:endParaRPr lang="en-US" sz="1600" dirty="0"/>
          </a:p>
          <a:p>
            <a:pPr marL="0" indent="0" algn="ctr">
              <a:buNone/>
            </a:pPr>
            <a:r>
              <a:rPr lang="en-US" sz="1600" dirty="0">
                <a:solidFill>
                  <a:srgbClr val="6B6380"/>
                </a:solidFill>
                <a:latin typeface="Calibri" pitchFamily="34" charset="0"/>
                <a:ea typeface="Calibri" pitchFamily="34" charset="-122"/>
                <a:cs typeface="Calibri" pitchFamily="34" charset="-120"/>
              </a:rPr>
              <a:t>Investment Advice</a:t>
            </a:r>
            <a:endParaRPr lang="en-US" sz="1600" dirty="0"/>
          </a:p>
        </p:txBody>
      </p:sp>
      <p:sp>
        <p:nvSpPr>
          <p:cNvPr id="9" name="Shape 7"/>
          <p:cNvSpPr/>
          <p:nvPr/>
        </p:nvSpPr>
        <p:spPr>
          <a:xfrm>
            <a:off x="3282696" y="1371600"/>
            <a:ext cx="2651760" cy="3383280"/>
          </a:xfrm>
          <a:prstGeom prst="roundRect">
            <a:avLst>
              <a:gd name="adj" fmla="val 4828"/>
            </a:avLst>
          </a:prstGeom>
          <a:solidFill>
            <a:srgbClr val="E3EEF8"/>
          </a:solidFill>
          <a:ln w="12700">
            <a:solidFill>
              <a:srgbClr val="7C5CBF">
                <a:alpha val="32000"/>
              </a:srgbClr>
            </a:solidFill>
            <a:prstDash val="solid"/>
          </a:ln>
          <a:effectLst>
            <a:outerShdw blurRad="101600" dist="25400" dir="8100000" algn="bl" rotWithShape="0">
              <a:srgbClr val="9B8FBB">
                <a:alpha val="13000"/>
              </a:srgbClr>
            </a:outerShdw>
          </a:effectLst>
        </p:spPr>
      </p:sp>
      <p:sp>
        <p:nvSpPr>
          <p:cNvPr id="10" name="Shape 8"/>
          <p:cNvSpPr/>
          <p:nvPr/>
        </p:nvSpPr>
        <p:spPr>
          <a:xfrm>
            <a:off x="4206240" y="1481328"/>
            <a:ext cx="731520" cy="731520"/>
          </a:xfrm>
          <a:prstGeom prst="ellipse">
            <a:avLst/>
          </a:prstGeom>
          <a:solidFill>
            <a:srgbClr val="7C5CBF"/>
          </a:solidFill>
          <a:ln w="12700">
            <a:solidFill>
              <a:srgbClr val="7C5CBF"/>
            </a:solidFill>
            <a:prstDash val="solid"/>
          </a:ln>
        </p:spPr>
      </p:sp>
      <p:sp>
        <p:nvSpPr>
          <p:cNvPr id="11" name="Text 9"/>
          <p:cNvSpPr/>
          <p:nvPr/>
        </p:nvSpPr>
        <p:spPr>
          <a:xfrm>
            <a:off x="4206240" y="1481328"/>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2" name="Text 10"/>
          <p:cNvSpPr/>
          <p:nvPr/>
        </p:nvSpPr>
        <p:spPr>
          <a:xfrm>
            <a:off x="3355848" y="2359152"/>
            <a:ext cx="2432304" cy="438912"/>
          </a:xfrm>
          <a:prstGeom prst="rect">
            <a:avLst/>
          </a:prstGeom>
          <a:noFill/>
          <a:ln/>
        </p:spPr>
        <p:txBody>
          <a:bodyPr wrap="square" lIns="0" tIns="0" rIns="0" bIns="0" rtlCol="0" anchor="ctr"/>
          <a:lstStyle/>
          <a:p>
            <a:pPr marL="0" indent="0" algn="ctr">
              <a:buNone/>
            </a:pPr>
            <a:r>
              <a:rPr lang="en-US" b="1" dirty="0">
                <a:solidFill>
                  <a:srgbClr val="3D3455"/>
                </a:solidFill>
                <a:latin typeface="Calibri" pitchFamily="34" charset="0"/>
                <a:ea typeface="Calibri" pitchFamily="34" charset="-122"/>
                <a:cs typeface="Calibri" pitchFamily="34" charset="-120"/>
              </a:rPr>
              <a:t>Provide Details</a:t>
            </a:r>
            <a:endParaRPr lang="en-US" dirty="0"/>
          </a:p>
        </p:txBody>
      </p:sp>
      <p:sp>
        <p:nvSpPr>
          <p:cNvPr id="13" name="Text 11"/>
          <p:cNvSpPr/>
          <p:nvPr/>
        </p:nvSpPr>
        <p:spPr>
          <a:xfrm>
            <a:off x="3355848" y="2852928"/>
            <a:ext cx="2432304" cy="1371600"/>
          </a:xfrm>
          <a:prstGeom prst="rect">
            <a:avLst/>
          </a:prstGeom>
          <a:noFill/>
          <a:ln/>
        </p:spPr>
        <p:txBody>
          <a:bodyPr wrap="square" lIns="0" tIns="0" rIns="0" bIns="0" rtlCol="0" anchor="ctr"/>
          <a:lstStyle/>
          <a:p>
            <a:pPr marL="0" indent="0" algn="ctr">
              <a:buNone/>
            </a:pPr>
            <a:r>
              <a:rPr lang="en-US" sz="1600" dirty="0">
                <a:solidFill>
                  <a:srgbClr val="6B6380"/>
                </a:solidFill>
                <a:latin typeface="Calibri" pitchFamily="34" charset="0"/>
                <a:ea typeface="Calibri" pitchFamily="34" charset="-122"/>
                <a:cs typeface="Calibri" pitchFamily="34" charset="-120"/>
              </a:rPr>
              <a:t>Answer a few guided</a:t>
            </a:r>
            <a:endParaRPr lang="en-US" sz="1600" dirty="0"/>
          </a:p>
          <a:p>
            <a:pPr marL="0" indent="0" algn="ctr">
              <a:buNone/>
            </a:pPr>
            <a:r>
              <a:rPr lang="en-US" sz="1600" dirty="0">
                <a:solidFill>
                  <a:srgbClr val="6B6380"/>
                </a:solidFill>
                <a:latin typeface="Calibri" pitchFamily="34" charset="0"/>
                <a:ea typeface="Calibri" pitchFamily="34" charset="-122"/>
                <a:cs typeface="Calibri" pitchFamily="34" charset="-120"/>
              </a:rPr>
              <a:t>questions — salary, loan</a:t>
            </a:r>
            <a:endParaRPr lang="en-US" sz="1600" dirty="0"/>
          </a:p>
          <a:p>
            <a:pPr marL="0" indent="0" algn="ctr">
              <a:buNone/>
            </a:pPr>
            <a:r>
              <a:rPr lang="en-US" sz="1600" dirty="0">
                <a:solidFill>
                  <a:srgbClr val="6B6380"/>
                </a:solidFill>
                <a:latin typeface="Calibri" pitchFamily="34" charset="0"/>
                <a:ea typeface="Calibri" pitchFamily="34" charset="-122"/>
                <a:cs typeface="Calibri" pitchFamily="34" charset="-120"/>
              </a:rPr>
              <a:t>amount, risk level, etc.</a:t>
            </a:r>
            <a:endParaRPr lang="en-US" sz="1600" dirty="0"/>
          </a:p>
        </p:txBody>
      </p:sp>
      <p:sp>
        <p:nvSpPr>
          <p:cNvPr id="14" name="Shape 12"/>
          <p:cNvSpPr/>
          <p:nvPr/>
        </p:nvSpPr>
        <p:spPr>
          <a:xfrm>
            <a:off x="6080760" y="1371600"/>
            <a:ext cx="2651760" cy="3383280"/>
          </a:xfrm>
          <a:prstGeom prst="roundRect">
            <a:avLst>
              <a:gd name="adj" fmla="val 4828"/>
            </a:avLst>
          </a:prstGeom>
          <a:solidFill>
            <a:srgbClr val="E3F5F0"/>
          </a:solidFill>
          <a:ln w="12700">
            <a:solidFill>
              <a:srgbClr val="3A9E8D">
                <a:alpha val="32000"/>
              </a:srgbClr>
            </a:solidFill>
            <a:prstDash val="solid"/>
          </a:ln>
          <a:effectLst>
            <a:outerShdw blurRad="101600" dist="25400" dir="8100000" algn="bl" rotWithShape="0">
              <a:srgbClr val="9B8FBB">
                <a:alpha val="13000"/>
              </a:srgbClr>
            </a:outerShdw>
          </a:effectLst>
        </p:spPr>
      </p:sp>
      <p:sp>
        <p:nvSpPr>
          <p:cNvPr id="15" name="Shape 13"/>
          <p:cNvSpPr/>
          <p:nvPr/>
        </p:nvSpPr>
        <p:spPr>
          <a:xfrm>
            <a:off x="7040880" y="1481328"/>
            <a:ext cx="731520" cy="731520"/>
          </a:xfrm>
          <a:prstGeom prst="ellipse">
            <a:avLst/>
          </a:prstGeom>
          <a:solidFill>
            <a:srgbClr val="3A9E8D"/>
          </a:solidFill>
          <a:ln w="12700">
            <a:solidFill>
              <a:srgbClr val="3A9E8D"/>
            </a:solidFill>
            <a:prstDash val="solid"/>
          </a:ln>
        </p:spPr>
      </p:sp>
      <p:sp>
        <p:nvSpPr>
          <p:cNvPr id="16" name="Text 14"/>
          <p:cNvSpPr/>
          <p:nvPr/>
        </p:nvSpPr>
        <p:spPr>
          <a:xfrm>
            <a:off x="7040880" y="1481328"/>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7" name="Text 15"/>
          <p:cNvSpPr/>
          <p:nvPr/>
        </p:nvSpPr>
        <p:spPr>
          <a:xfrm>
            <a:off x="6190488" y="2359152"/>
            <a:ext cx="2432304" cy="438912"/>
          </a:xfrm>
          <a:prstGeom prst="rect">
            <a:avLst/>
          </a:prstGeom>
          <a:noFill/>
          <a:ln/>
        </p:spPr>
        <p:txBody>
          <a:bodyPr wrap="square" lIns="0" tIns="0" rIns="0" bIns="0" rtlCol="0" anchor="ctr"/>
          <a:lstStyle/>
          <a:p>
            <a:pPr marL="0" indent="0" algn="ctr">
              <a:buNone/>
            </a:pPr>
            <a:r>
              <a:rPr lang="en-US" b="1" dirty="0">
                <a:solidFill>
                  <a:srgbClr val="3D3455"/>
                </a:solidFill>
                <a:latin typeface="Calibri" pitchFamily="34" charset="0"/>
                <a:ea typeface="Calibri" pitchFamily="34" charset="-122"/>
                <a:cs typeface="Calibri" pitchFamily="34" charset="-120"/>
              </a:rPr>
              <a:t>Get Your Answer</a:t>
            </a:r>
            <a:endParaRPr lang="en-US" dirty="0"/>
          </a:p>
        </p:txBody>
      </p:sp>
      <p:sp>
        <p:nvSpPr>
          <p:cNvPr id="18" name="Text 16"/>
          <p:cNvSpPr/>
          <p:nvPr/>
        </p:nvSpPr>
        <p:spPr>
          <a:xfrm>
            <a:off x="6190488" y="2852928"/>
            <a:ext cx="2432304" cy="1371600"/>
          </a:xfrm>
          <a:prstGeom prst="rect">
            <a:avLst/>
          </a:prstGeom>
          <a:noFill/>
          <a:ln/>
        </p:spPr>
        <p:txBody>
          <a:bodyPr wrap="square" lIns="0" tIns="0" rIns="0" bIns="0" rtlCol="0" anchor="ctr"/>
          <a:lstStyle/>
          <a:p>
            <a:pPr marL="0" indent="0" algn="ctr">
              <a:buNone/>
            </a:pPr>
            <a:r>
              <a:rPr lang="en-US" sz="1600" dirty="0">
                <a:solidFill>
                  <a:srgbClr val="6B6380"/>
                </a:solidFill>
                <a:latin typeface="Calibri" pitchFamily="34" charset="0"/>
                <a:ea typeface="Calibri" pitchFamily="34" charset="-122"/>
                <a:cs typeface="Calibri" pitchFamily="34" charset="-120"/>
              </a:rPr>
              <a:t>Receive clear results,</a:t>
            </a:r>
            <a:endParaRPr lang="en-US" sz="1600" dirty="0"/>
          </a:p>
          <a:p>
            <a:pPr marL="0" indent="0" algn="ctr">
              <a:buNone/>
            </a:pPr>
            <a:r>
              <a:rPr lang="en-US" sz="1600" dirty="0">
                <a:solidFill>
                  <a:srgbClr val="6B6380"/>
                </a:solidFill>
                <a:latin typeface="Calibri" pitchFamily="34" charset="0"/>
                <a:ea typeface="Calibri" pitchFamily="34" charset="-122"/>
                <a:cs typeface="Calibri" pitchFamily="34" charset="-120"/>
              </a:rPr>
              <a:t>calculations, and</a:t>
            </a:r>
            <a:endParaRPr lang="en-US" sz="1600" dirty="0"/>
          </a:p>
          <a:p>
            <a:pPr marL="0" indent="0" algn="ctr">
              <a:buNone/>
            </a:pPr>
            <a:r>
              <a:rPr lang="en-US" sz="1600" dirty="0">
                <a:solidFill>
                  <a:srgbClr val="6B6380"/>
                </a:solidFill>
                <a:latin typeface="Calibri" pitchFamily="34" charset="0"/>
                <a:ea typeface="Calibri" pitchFamily="34" charset="-122"/>
                <a:cs typeface="Calibri" pitchFamily="34" charset="-120"/>
              </a:rPr>
              <a:t>tailored suggestions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E8E0F0"/>
        </a:solidFill>
        <a:effectLst/>
      </p:bgPr>
    </p:bg>
    <p:spTree>
      <p:nvGrpSpPr>
        <p:cNvPr id="1" name=""/>
        <p:cNvGrpSpPr/>
        <p:nvPr/>
      </p:nvGrpSpPr>
      <p:grpSpPr>
        <a:xfrm>
          <a:off x="0" y="0"/>
          <a:ext cx="0" cy="0"/>
          <a:chOff x="0" y="0"/>
          <a:chExt cx="0" cy="0"/>
        </a:xfrm>
      </p:grpSpPr>
      <p:sp>
        <p:nvSpPr>
          <p:cNvPr id="2" name="Shape 0"/>
          <p:cNvSpPr/>
          <p:nvPr/>
        </p:nvSpPr>
        <p:spPr>
          <a:xfrm>
            <a:off x="-548640" y="3200400"/>
            <a:ext cx="2011680" cy="2011680"/>
          </a:xfrm>
          <a:prstGeom prst="ellipse">
            <a:avLst/>
          </a:prstGeom>
          <a:solidFill>
            <a:srgbClr val="C9637A">
              <a:alpha val="16000"/>
            </a:srgbClr>
          </a:solidFill>
          <a:ln w="12700">
            <a:solidFill>
              <a:srgbClr val="C9637A">
                <a:alpha val="16000"/>
              </a:srgbClr>
            </a:solidFill>
            <a:prstDash val="solid"/>
          </a:ln>
        </p:spPr>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  Loan Eligibility Check</a:t>
            </a:r>
            <a:endParaRPr lang="en-US" sz="28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300" dirty="0">
                <a:solidFill>
                  <a:srgbClr val="5A5278"/>
                </a:solidFill>
                <a:latin typeface="Calibri" pitchFamily="34" charset="0"/>
                <a:ea typeface="Calibri" pitchFamily="34" charset="-122"/>
                <a:cs typeface="Calibri" pitchFamily="34" charset="-120"/>
              </a:rPr>
              <a:t>We assess your profile instantly using three key parameters</a:t>
            </a:r>
            <a:endParaRPr lang="en-US" sz="1300" dirty="0"/>
          </a:p>
        </p:txBody>
      </p:sp>
      <p:sp>
        <p:nvSpPr>
          <p:cNvPr id="5" name="Shape 3"/>
          <p:cNvSpPr/>
          <p:nvPr/>
        </p:nvSpPr>
        <p:spPr>
          <a:xfrm>
            <a:off x="91440" y="1336431"/>
            <a:ext cx="3931920" cy="3474720"/>
          </a:xfrm>
          <a:prstGeom prst="roundRect">
            <a:avLst>
              <a:gd name="adj" fmla="val 3684"/>
            </a:avLst>
          </a:prstGeom>
          <a:solidFill>
            <a:srgbClr val="FDEEF4"/>
          </a:solidFill>
          <a:ln w="12700">
            <a:solidFill>
              <a:srgbClr val="C9637A">
                <a:alpha val="30000"/>
              </a:srgbClr>
            </a:solidFill>
            <a:prstDash val="solid"/>
          </a:ln>
          <a:effectLst>
            <a:outerShdw blurRad="101600" dist="25400" dir="8100000" algn="bl" rotWithShape="0">
              <a:srgbClr val="9B8FBB">
                <a:alpha val="13000"/>
              </a:srgbClr>
            </a:outerShdw>
          </a:effectLst>
        </p:spPr>
      </p:sp>
      <p:sp>
        <p:nvSpPr>
          <p:cNvPr id="6" name="Text 4"/>
          <p:cNvSpPr/>
          <p:nvPr/>
        </p:nvSpPr>
        <p:spPr>
          <a:xfrm>
            <a:off x="548640" y="1463040"/>
            <a:ext cx="3657600" cy="365760"/>
          </a:xfrm>
          <a:prstGeom prst="rect">
            <a:avLst/>
          </a:prstGeom>
          <a:noFill/>
          <a:ln/>
        </p:spPr>
        <p:txBody>
          <a:bodyPr wrap="square" lIns="0" tIns="0" rIns="0" bIns="0" rtlCol="0" anchor="ctr"/>
          <a:lstStyle/>
          <a:p>
            <a:pPr marL="0" indent="0">
              <a:buNone/>
            </a:pPr>
            <a:r>
              <a:rPr lang="en-US" sz="1400" b="1" dirty="0">
                <a:solidFill>
                  <a:srgbClr val="C9637A"/>
                </a:solidFill>
                <a:latin typeface="Calibri" pitchFamily="34" charset="0"/>
                <a:ea typeface="Calibri" pitchFamily="34" charset="-122"/>
                <a:cs typeface="Calibri" pitchFamily="34" charset="-120"/>
              </a:rPr>
              <a:t>Eligibility Criteria</a:t>
            </a:r>
            <a:endParaRPr lang="en-US" sz="1400" dirty="0"/>
          </a:p>
        </p:txBody>
      </p:sp>
      <p:sp>
        <p:nvSpPr>
          <p:cNvPr id="7" name="Text 5"/>
          <p:cNvSpPr/>
          <p:nvPr/>
        </p:nvSpPr>
        <p:spPr>
          <a:xfrm>
            <a:off x="594360" y="1920240"/>
            <a:ext cx="3611880" cy="502920"/>
          </a:xfrm>
          <a:prstGeom prst="rect">
            <a:avLst/>
          </a:prstGeom>
          <a:noFill/>
          <a:ln/>
        </p:spPr>
        <p:txBody>
          <a:bodyPr wrap="square" lIns="0" tIns="0" rIns="0" bIns="0" rtlCol="0" anchor="ctr"/>
          <a:lstStyle/>
          <a:p>
            <a:pPr marL="0" indent="0">
              <a:buNone/>
            </a:pPr>
            <a:r>
              <a:rPr lang="en-US" sz="1250" dirty="0">
                <a:solidFill>
                  <a:srgbClr val="3D3455"/>
                </a:solidFill>
                <a:latin typeface="Calibri" pitchFamily="34" charset="0"/>
                <a:ea typeface="Calibri" pitchFamily="34" charset="-122"/>
                <a:cs typeface="Calibri" pitchFamily="34" charset="-120"/>
              </a:rPr>
              <a:t>💰  Monthly salary ≥ ₹20,000</a:t>
            </a:r>
            <a:endParaRPr lang="en-US" sz="1250" dirty="0"/>
          </a:p>
        </p:txBody>
      </p:sp>
      <p:sp>
        <p:nvSpPr>
          <p:cNvPr id="8" name="Text 6"/>
          <p:cNvSpPr/>
          <p:nvPr/>
        </p:nvSpPr>
        <p:spPr>
          <a:xfrm>
            <a:off x="594360" y="2578608"/>
            <a:ext cx="3611880" cy="502920"/>
          </a:xfrm>
          <a:prstGeom prst="rect">
            <a:avLst/>
          </a:prstGeom>
          <a:noFill/>
          <a:ln/>
        </p:spPr>
        <p:txBody>
          <a:bodyPr wrap="square" lIns="0" tIns="0" rIns="0" bIns="0" rtlCol="0" anchor="ctr"/>
          <a:lstStyle/>
          <a:p>
            <a:pPr marL="0" indent="0">
              <a:buNone/>
            </a:pPr>
            <a:r>
              <a:rPr lang="en-US" sz="1250" dirty="0">
                <a:solidFill>
                  <a:srgbClr val="3D3455"/>
                </a:solidFill>
                <a:latin typeface="Calibri" pitchFamily="34" charset="0"/>
                <a:ea typeface="Calibri" pitchFamily="34" charset="-122"/>
                <a:cs typeface="Calibri" pitchFamily="34" charset="-120"/>
              </a:rPr>
              <a:t>🎂  Age between 21 – 60 years</a:t>
            </a:r>
            <a:endParaRPr lang="en-US" sz="1250" dirty="0"/>
          </a:p>
        </p:txBody>
      </p:sp>
      <p:sp>
        <p:nvSpPr>
          <p:cNvPr id="9" name="Text 7"/>
          <p:cNvSpPr/>
          <p:nvPr/>
        </p:nvSpPr>
        <p:spPr>
          <a:xfrm>
            <a:off x="594360" y="3236976"/>
            <a:ext cx="3611880" cy="502920"/>
          </a:xfrm>
          <a:prstGeom prst="rect">
            <a:avLst/>
          </a:prstGeom>
          <a:noFill/>
          <a:ln/>
        </p:spPr>
        <p:txBody>
          <a:bodyPr wrap="square" lIns="0" tIns="0" rIns="0" bIns="0" rtlCol="0" anchor="ctr"/>
          <a:lstStyle/>
          <a:p>
            <a:pPr marL="0" indent="0">
              <a:buNone/>
            </a:pPr>
            <a:r>
              <a:rPr lang="en-US" sz="1250" dirty="0">
                <a:solidFill>
                  <a:srgbClr val="3D3455"/>
                </a:solidFill>
                <a:latin typeface="Calibri" pitchFamily="34" charset="0"/>
                <a:ea typeface="Calibri" pitchFamily="34" charset="-122"/>
                <a:cs typeface="Calibri" pitchFamily="34" charset="-120"/>
              </a:rPr>
              <a:t>💼  Must be currently employed</a:t>
            </a:r>
            <a:endParaRPr lang="en-US" sz="1250" dirty="0"/>
          </a:p>
        </p:txBody>
      </p:sp>
      <p:sp>
        <p:nvSpPr>
          <p:cNvPr id="10" name="Text 8"/>
          <p:cNvSpPr/>
          <p:nvPr/>
        </p:nvSpPr>
        <p:spPr>
          <a:xfrm>
            <a:off x="594360" y="3895344"/>
            <a:ext cx="3611880" cy="502920"/>
          </a:xfrm>
          <a:prstGeom prst="rect">
            <a:avLst/>
          </a:prstGeom>
          <a:noFill/>
          <a:ln/>
        </p:spPr>
        <p:txBody>
          <a:bodyPr wrap="square" lIns="0" tIns="0" rIns="0" bIns="0" rtlCol="0" anchor="ctr"/>
          <a:lstStyle/>
          <a:p>
            <a:pPr marL="0" indent="0">
              <a:buNone/>
            </a:pPr>
            <a:r>
              <a:rPr lang="en-US" sz="1250" dirty="0">
                <a:solidFill>
                  <a:srgbClr val="3D3455"/>
                </a:solidFill>
                <a:latin typeface="Calibri" pitchFamily="34" charset="0"/>
                <a:ea typeface="Calibri" pitchFamily="34" charset="-122"/>
                <a:cs typeface="Calibri" pitchFamily="34" charset="-120"/>
              </a:rPr>
              <a:t>📋  Salaried or Self-employed</a:t>
            </a:r>
            <a:endParaRPr lang="en-US" sz="1250" dirty="0"/>
          </a:p>
        </p:txBody>
      </p:sp>
      <p:sp>
        <p:nvSpPr>
          <p:cNvPr id="11" name="Shape 9"/>
          <p:cNvSpPr/>
          <p:nvPr/>
        </p:nvSpPr>
        <p:spPr>
          <a:xfrm>
            <a:off x="4800600" y="1325880"/>
            <a:ext cx="3931920" cy="3474720"/>
          </a:xfrm>
          <a:prstGeom prst="roundRect">
            <a:avLst>
              <a:gd name="adj" fmla="val 3684"/>
            </a:avLst>
          </a:prstGeom>
          <a:solidFill>
            <a:srgbClr val="E3F5F0"/>
          </a:solidFill>
          <a:ln w="12700">
            <a:solidFill>
              <a:srgbClr val="3A9E8D">
                <a:alpha val="30000"/>
              </a:srgbClr>
            </a:solidFill>
            <a:prstDash val="solid"/>
          </a:ln>
          <a:effectLst>
            <a:outerShdw blurRad="101600" dist="25400" dir="8100000" algn="bl" rotWithShape="0">
              <a:srgbClr val="9B8FBB">
                <a:alpha val="13000"/>
              </a:srgbClr>
            </a:outerShdw>
          </a:effectLst>
        </p:spPr>
      </p:sp>
      <p:sp>
        <p:nvSpPr>
          <p:cNvPr id="12" name="Text 10"/>
          <p:cNvSpPr/>
          <p:nvPr/>
        </p:nvSpPr>
        <p:spPr>
          <a:xfrm>
            <a:off x="4937760" y="1463040"/>
            <a:ext cx="3657600" cy="365760"/>
          </a:xfrm>
          <a:prstGeom prst="rect">
            <a:avLst/>
          </a:prstGeom>
          <a:noFill/>
          <a:ln/>
        </p:spPr>
        <p:txBody>
          <a:bodyPr wrap="square" lIns="0" tIns="0" rIns="0" bIns="0" rtlCol="0" anchor="ctr"/>
          <a:lstStyle/>
          <a:p>
            <a:pPr marL="0" indent="0">
              <a:buNone/>
            </a:pPr>
            <a:r>
              <a:rPr lang="en-US" sz="1400" b="1" dirty="0">
                <a:solidFill>
                  <a:srgbClr val="3A9E8D"/>
                </a:solidFill>
                <a:latin typeface="Calibri" pitchFamily="34" charset="0"/>
                <a:ea typeface="Calibri" pitchFamily="34" charset="-122"/>
                <a:cs typeface="Calibri" pitchFamily="34" charset="-120"/>
              </a:rPr>
              <a:t>Possible Outcomes</a:t>
            </a:r>
            <a:endParaRPr lang="en-US" sz="1400" dirty="0"/>
          </a:p>
        </p:txBody>
      </p:sp>
      <p:sp>
        <p:nvSpPr>
          <p:cNvPr id="13" name="Text 11"/>
          <p:cNvSpPr/>
          <p:nvPr/>
        </p:nvSpPr>
        <p:spPr>
          <a:xfrm>
            <a:off x="4983480" y="1965960"/>
            <a:ext cx="3611880" cy="457200"/>
          </a:xfrm>
          <a:prstGeom prst="rect">
            <a:avLst/>
          </a:prstGeom>
          <a:noFill/>
          <a:ln/>
        </p:spPr>
        <p:txBody>
          <a:bodyPr wrap="square" lIns="0" tIns="0" rIns="0" bIns="0" rtlCol="0" anchor="ctr"/>
          <a:lstStyle/>
          <a:p>
            <a:pPr marL="0" indent="0">
              <a:buNone/>
            </a:pPr>
            <a:r>
              <a:rPr lang="en-US" sz="1250" dirty="0">
                <a:solidFill>
                  <a:srgbClr val="3D3455"/>
                </a:solidFill>
                <a:latin typeface="Calibri" pitchFamily="34" charset="0"/>
                <a:ea typeface="Calibri" pitchFamily="34" charset="-122"/>
                <a:cs typeface="Calibri" pitchFamily="34" charset="-120"/>
              </a:rPr>
              <a:t>✅  You are eligible for the loan</a:t>
            </a:r>
            <a:endParaRPr lang="en-US" sz="1250" dirty="0"/>
          </a:p>
        </p:txBody>
      </p:sp>
      <p:sp>
        <p:nvSpPr>
          <p:cNvPr id="14" name="Text 12"/>
          <p:cNvSpPr/>
          <p:nvPr/>
        </p:nvSpPr>
        <p:spPr>
          <a:xfrm>
            <a:off x="4983480" y="2468880"/>
            <a:ext cx="3611880" cy="594360"/>
          </a:xfrm>
          <a:prstGeom prst="rect">
            <a:avLst/>
          </a:prstGeom>
          <a:noFill/>
          <a:ln/>
        </p:spPr>
        <p:txBody>
          <a:bodyPr wrap="square" lIns="0" tIns="0" rIns="0" bIns="0" rtlCol="0" anchor="ctr"/>
          <a:lstStyle/>
          <a:p>
            <a:pPr marL="0" indent="0">
              <a:buNone/>
            </a:pPr>
            <a:r>
              <a:rPr lang="en-US" sz="1200" i="1" dirty="0">
                <a:solidFill>
                  <a:srgbClr val="6B6380"/>
                </a:solidFill>
                <a:latin typeface="Calibri" pitchFamily="34" charset="0"/>
                <a:ea typeface="Calibri" pitchFamily="34" charset="-122"/>
                <a:cs typeface="Calibri" pitchFamily="34" charset="-120"/>
              </a:rPr>
              <a:t>All three conditions are met — proceed with the application.</a:t>
            </a:r>
            <a:endParaRPr lang="en-US" sz="1200" dirty="0"/>
          </a:p>
        </p:txBody>
      </p:sp>
      <p:sp>
        <p:nvSpPr>
          <p:cNvPr id="15" name="Text 13"/>
          <p:cNvSpPr/>
          <p:nvPr/>
        </p:nvSpPr>
        <p:spPr>
          <a:xfrm>
            <a:off x="4983480" y="3154680"/>
            <a:ext cx="3611880" cy="457200"/>
          </a:xfrm>
          <a:prstGeom prst="rect">
            <a:avLst/>
          </a:prstGeom>
          <a:noFill/>
          <a:ln/>
        </p:spPr>
        <p:txBody>
          <a:bodyPr wrap="square" lIns="0" tIns="0" rIns="0" bIns="0" rtlCol="0" anchor="ctr"/>
          <a:lstStyle/>
          <a:p>
            <a:pPr marL="0" indent="0">
              <a:buNone/>
            </a:pPr>
            <a:r>
              <a:rPr lang="en-US" sz="1250" dirty="0">
                <a:solidFill>
                  <a:srgbClr val="3D3455"/>
                </a:solidFill>
                <a:latin typeface="Calibri" pitchFamily="34" charset="0"/>
                <a:ea typeface="Calibri" pitchFamily="34" charset="-122"/>
                <a:cs typeface="Calibri" pitchFamily="34" charset="-120"/>
              </a:rPr>
              <a:t>❌  Not eligible at this time</a:t>
            </a:r>
            <a:endParaRPr lang="en-US" sz="1250" dirty="0"/>
          </a:p>
        </p:txBody>
      </p:sp>
      <p:sp>
        <p:nvSpPr>
          <p:cNvPr id="16" name="Text 14"/>
          <p:cNvSpPr/>
          <p:nvPr/>
        </p:nvSpPr>
        <p:spPr>
          <a:xfrm>
            <a:off x="4983480" y="3657600"/>
            <a:ext cx="3611880" cy="594360"/>
          </a:xfrm>
          <a:prstGeom prst="rect">
            <a:avLst/>
          </a:prstGeom>
          <a:noFill/>
          <a:ln/>
        </p:spPr>
        <p:txBody>
          <a:bodyPr wrap="square" lIns="0" tIns="0" rIns="0" bIns="0" rtlCol="0" anchor="ctr"/>
          <a:lstStyle/>
          <a:p>
            <a:pPr marL="0" indent="0">
              <a:buNone/>
            </a:pPr>
            <a:r>
              <a:rPr lang="en-US" sz="1200" i="1" dirty="0">
                <a:solidFill>
                  <a:srgbClr val="6B6380"/>
                </a:solidFill>
                <a:latin typeface="Calibri" pitchFamily="34" charset="0"/>
                <a:ea typeface="Calibri" pitchFamily="34" charset="-122"/>
                <a:cs typeface="Calibri" pitchFamily="34" charset="-120"/>
              </a:rPr>
              <a:t>One or more criteria not satisfied — we explain why.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F4F1"/>
        </a:solidFill>
        <a:effectLst/>
      </p:bgPr>
    </p:bg>
    <p:spTree>
      <p:nvGrpSpPr>
        <p:cNvPr id="1" name="">
          <a:extLst>
            <a:ext uri="{FF2B5EF4-FFF2-40B4-BE49-F238E27FC236}">
              <a16:creationId xmlns:a16="http://schemas.microsoft.com/office/drawing/2014/main" id="{3F8071A6-1B89-646B-99DC-764A6774F9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3A8380D-7E8D-10F7-D60C-9768DA5862A9}"/>
              </a:ext>
            </a:extLst>
          </p:cNvPr>
          <p:cNvSpPr/>
          <p:nvPr/>
        </p:nvSpPr>
        <p:spPr>
          <a:xfrm>
            <a:off x="8046720" y="3200400"/>
            <a:ext cx="1828800" cy="1828800"/>
          </a:xfrm>
          <a:prstGeom prst="ellipse">
            <a:avLst/>
          </a:prstGeom>
          <a:solidFill>
            <a:srgbClr val="7C5CBF">
              <a:alpha val="15000"/>
            </a:srgbClr>
          </a:solidFill>
          <a:ln w="12700">
            <a:solidFill>
              <a:srgbClr val="7C5CBF">
                <a:alpha val="15000"/>
              </a:srgbClr>
            </a:solidFill>
            <a:prstDash val="solid"/>
          </a:ln>
        </p:spPr>
      </p:sp>
      <p:sp>
        <p:nvSpPr>
          <p:cNvPr id="3" name="Text 1">
            <a:extLst>
              <a:ext uri="{FF2B5EF4-FFF2-40B4-BE49-F238E27FC236}">
                <a16:creationId xmlns:a16="http://schemas.microsoft.com/office/drawing/2014/main" id="{16224399-A0EF-2DC0-E09F-7D025AD589D4}"/>
              </a:ext>
            </a:extLst>
          </p:cNvPr>
          <p:cNvSpPr/>
          <p:nvPr/>
        </p:nvSpPr>
        <p:spPr>
          <a:xfrm>
            <a:off x="457200" y="147013"/>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  EMI Calculator</a:t>
            </a:r>
            <a:endParaRPr lang="en-US" sz="2800" dirty="0"/>
          </a:p>
        </p:txBody>
      </p:sp>
      <p:sp>
        <p:nvSpPr>
          <p:cNvPr id="4" name="Text 2">
            <a:extLst>
              <a:ext uri="{FF2B5EF4-FFF2-40B4-BE49-F238E27FC236}">
                <a16:creationId xmlns:a16="http://schemas.microsoft.com/office/drawing/2014/main" id="{A2D80B54-93E2-B05B-660C-35C45B699100}"/>
              </a:ext>
            </a:extLst>
          </p:cNvPr>
          <p:cNvSpPr/>
          <p:nvPr/>
        </p:nvSpPr>
        <p:spPr>
          <a:xfrm flipV="1">
            <a:off x="685800" y="1713714"/>
            <a:ext cx="7818120" cy="45719"/>
          </a:xfrm>
          <a:prstGeom prst="rect">
            <a:avLst/>
          </a:prstGeom>
          <a:noFill/>
          <a:ln/>
        </p:spPr>
        <p:txBody>
          <a:bodyPr wrap="square" lIns="0" tIns="0" rIns="0" bIns="0" rtlCol="0" anchor="ctr"/>
          <a:lstStyle/>
          <a:p>
            <a:pPr marL="0" indent="0">
              <a:buNone/>
            </a:pPr>
            <a:endParaRPr lang="en-US" sz="1300" dirty="0"/>
          </a:p>
        </p:txBody>
      </p:sp>
      <p:sp>
        <p:nvSpPr>
          <p:cNvPr id="5" name="Shape 3">
            <a:extLst>
              <a:ext uri="{FF2B5EF4-FFF2-40B4-BE49-F238E27FC236}">
                <a16:creationId xmlns:a16="http://schemas.microsoft.com/office/drawing/2014/main" id="{60AA10C8-AF3F-C64E-EA00-338D1EF8AA66}"/>
              </a:ext>
            </a:extLst>
          </p:cNvPr>
          <p:cNvSpPr/>
          <p:nvPr/>
        </p:nvSpPr>
        <p:spPr>
          <a:xfrm>
            <a:off x="411480" y="1325880"/>
            <a:ext cx="5303520" cy="3474720"/>
          </a:xfrm>
          <a:prstGeom prst="roundRect">
            <a:avLst>
              <a:gd name="adj" fmla="val 3684"/>
            </a:avLst>
          </a:prstGeom>
          <a:solidFill>
            <a:srgbClr val="EDE8F7"/>
          </a:solidFill>
          <a:ln w="12700">
            <a:solidFill>
              <a:srgbClr val="7C5CBF">
                <a:alpha val="28000"/>
              </a:srgbClr>
            </a:solidFill>
            <a:prstDash val="solid"/>
          </a:ln>
          <a:effectLst>
            <a:outerShdw blurRad="101600" dist="25400" dir="8100000" algn="bl" rotWithShape="0">
              <a:srgbClr val="9B8FBB">
                <a:alpha val="13000"/>
              </a:srgbClr>
            </a:outerShdw>
          </a:effectLst>
        </p:spPr>
      </p:sp>
      <p:sp>
        <p:nvSpPr>
          <p:cNvPr id="6" name="Text 4">
            <a:extLst>
              <a:ext uri="{FF2B5EF4-FFF2-40B4-BE49-F238E27FC236}">
                <a16:creationId xmlns:a16="http://schemas.microsoft.com/office/drawing/2014/main" id="{F4DCF6F1-BADF-3D0A-43A5-FF4F6CA79DE0}"/>
              </a:ext>
            </a:extLst>
          </p:cNvPr>
          <p:cNvSpPr/>
          <p:nvPr/>
        </p:nvSpPr>
        <p:spPr>
          <a:xfrm>
            <a:off x="566928" y="1463040"/>
            <a:ext cx="5029200" cy="365760"/>
          </a:xfrm>
          <a:prstGeom prst="rect">
            <a:avLst/>
          </a:prstGeom>
          <a:noFill/>
          <a:ln/>
        </p:spPr>
        <p:txBody>
          <a:bodyPr wrap="square" lIns="0" tIns="0" rIns="0" bIns="0" rtlCol="0" anchor="ctr"/>
          <a:lstStyle/>
          <a:p>
            <a:pPr marL="0" indent="0">
              <a:buNone/>
            </a:pPr>
            <a:r>
              <a:rPr lang="en-US" sz="1400" b="1" dirty="0">
                <a:solidFill>
                  <a:srgbClr val="7C5CBF"/>
                </a:solidFill>
                <a:latin typeface="Calibri" pitchFamily="34" charset="0"/>
                <a:ea typeface="Calibri" pitchFamily="34" charset="-122"/>
                <a:cs typeface="Calibri" pitchFamily="34" charset="-120"/>
              </a:rPr>
              <a:t>EMI Formula</a:t>
            </a:r>
            <a:endParaRPr lang="en-US" sz="1400" dirty="0"/>
          </a:p>
        </p:txBody>
      </p:sp>
      <p:sp>
        <p:nvSpPr>
          <p:cNvPr id="7" name="Text 5">
            <a:extLst>
              <a:ext uri="{FF2B5EF4-FFF2-40B4-BE49-F238E27FC236}">
                <a16:creationId xmlns:a16="http://schemas.microsoft.com/office/drawing/2014/main" id="{07160062-02FE-1966-B9FB-481E49C4D968}"/>
              </a:ext>
            </a:extLst>
          </p:cNvPr>
          <p:cNvSpPr/>
          <p:nvPr/>
        </p:nvSpPr>
        <p:spPr>
          <a:xfrm>
            <a:off x="566928" y="1901952"/>
            <a:ext cx="5029200" cy="502920"/>
          </a:xfrm>
          <a:prstGeom prst="rect">
            <a:avLst/>
          </a:prstGeom>
          <a:noFill/>
          <a:ln/>
        </p:spPr>
        <p:txBody>
          <a:bodyPr wrap="square" lIns="0" tIns="0" rIns="0" bIns="0" rtlCol="0" anchor="ctr"/>
          <a:lstStyle/>
          <a:p>
            <a:pPr marL="0" indent="0">
              <a:buNone/>
            </a:pPr>
            <a:r>
              <a:rPr lang="en-US" sz="1300" b="1" dirty="0">
                <a:solidFill>
                  <a:srgbClr val="3D3455"/>
                </a:solidFill>
                <a:latin typeface="Consolas" pitchFamily="34" charset="0"/>
                <a:ea typeface="Consolas" pitchFamily="34" charset="-122"/>
                <a:cs typeface="Consolas" pitchFamily="34" charset="-120"/>
              </a:rPr>
              <a:t>EMI = [ P × R × (1+R)ᴺ ] ÷ [ (1+R)ᴺ – 1 ]</a:t>
            </a:r>
            <a:endParaRPr lang="en-US" sz="1300" dirty="0"/>
          </a:p>
        </p:txBody>
      </p:sp>
      <p:sp>
        <p:nvSpPr>
          <p:cNvPr id="8" name="Text 6">
            <a:extLst>
              <a:ext uri="{FF2B5EF4-FFF2-40B4-BE49-F238E27FC236}">
                <a16:creationId xmlns:a16="http://schemas.microsoft.com/office/drawing/2014/main" id="{6F30A2D3-657C-5B48-BF5E-DE2788DEF862}"/>
              </a:ext>
            </a:extLst>
          </p:cNvPr>
          <p:cNvSpPr/>
          <p:nvPr/>
        </p:nvSpPr>
        <p:spPr>
          <a:xfrm>
            <a:off x="640080" y="2560320"/>
            <a:ext cx="4846320" cy="438912"/>
          </a:xfrm>
          <a:prstGeom prst="rect">
            <a:avLst/>
          </a:prstGeom>
          <a:noFill/>
          <a:ln/>
        </p:spPr>
        <p:txBody>
          <a:bodyPr wrap="square" lIns="0" tIns="0" rIns="0" bIns="0" rtlCol="0" anchor="ctr"/>
          <a:lstStyle/>
          <a:p>
            <a:pPr marL="0" indent="0">
              <a:buNone/>
            </a:pPr>
            <a:r>
              <a:rPr lang="en-US" sz="1200" dirty="0">
                <a:solidFill>
                  <a:srgbClr val="6B6380"/>
                </a:solidFill>
                <a:latin typeface="Calibri" pitchFamily="34" charset="0"/>
                <a:ea typeface="Calibri" pitchFamily="34" charset="-122"/>
                <a:cs typeface="Calibri" pitchFamily="34" charset="-120"/>
              </a:rPr>
              <a:t>P  —  Principal loan amount</a:t>
            </a:r>
            <a:endParaRPr lang="en-US" sz="1200" dirty="0"/>
          </a:p>
        </p:txBody>
      </p:sp>
      <p:sp>
        <p:nvSpPr>
          <p:cNvPr id="9" name="Text 7">
            <a:extLst>
              <a:ext uri="{FF2B5EF4-FFF2-40B4-BE49-F238E27FC236}">
                <a16:creationId xmlns:a16="http://schemas.microsoft.com/office/drawing/2014/main" id="{D2E73A6B-0F82-C4D9-4666-437E4EA62AE9}"/>
              </a:ext>
            </a:extLst>
          </p:cNvPr>
          <p:cNvSpPr/>
          <p:nvPr/>
        </p:nvSpPr>
        <p:spPr>
          <a:xfrm>
            <a:off x="640080" y="3127248"/>
            <a:ext cx="4846320" cy="438912"/>
          </a:xfrm>
          <a:prstGeom prst="rect">
            <a:avLst/>
          </a:prstGeom>
          <a:noFill/>
          <a:ln/>
        </p:spPr>
        <p:txBody>
          <a:bodyPr wrap="square" lIns="0" tIns="0" rIns="0" bIns="0" rtlCol="0" anchor="ctr"/>
          <a:lstStyle/>
          <a:p>
            <a:pPr marL="0" indent="0">
              <a:buNone/>
            </a:pPr>
            <a:r>
              <a:rPr lang="en-US" sz="1200" dirty="0">
                <a:solidFill>
                  <a:srgbClr val="6B6380"/>
                </a:solidFill>
                <a:latin typeface="Calibri" pitchFamily="34" charset="0"/>
                <a:ea typeface="Calibri" pitchFamily="34" charset="-122"/>
                <a:cs typeface="Calibri" pitchFamily="34" charset="-120"/>
              </a:rPr>
              <a:t>R  —  Monthly rate = Annual Rate ÷ 12 ÷ 100</a:t>
            </a:r>
            <a:endParaRPr lang="en-US" sz="1200" dirty="0"/>
          </a:p>
        </p:txBody>
      </p:sp>
      <p:sp>
        <p:nvSpPr>
          <p:cNvPr id="10" name="Text 8">
            <a:extLst>
              <a:ext uri="{FF2B5EF4-FFF2-40B4-BE49-F238E27FC236}">
                <a16:creationId xmlns:a16="http://schemas.microsoft.com/office/drawing/2014/main" id="{6690D319-165A-60CF-4D18-69EF1BE84F9D}"/>
              </a:ext>
            </a:extLst>
          </p:cNvPr>
          <p:cNvSpPr/>
          <p:nvPr/>
        </p:nvSpPr>
        <p:spPr>
          <a:xfrm>
            <a:off x="640080" y="3694176"/>
            <a:ext cx="4846320" cy="438912"/>
          </a:xfrm>
          <a:prstGeom prst="rect">
            <a:avLst/>
          </a:prstGeom>
          <a:noFill/>
          <a:ln/>
        </p:spPr>
        <p:txBody>
          <a:bodyPr wrap="square" lIns="0" tIns="0" rIns="0" bIns="0" rtlCol="0" anchor="ctr"/>
          <a:lstStyle/>
          <a:p>
            <a:pPr marL="0" indent="0">
              <a:buNone/>
            </a:pPr>
            <a:r>
              <a:rPr lang="en-US" sz="1200" dirty="0">
                <a:solidFill>
                  <a:srgbClr val="6B6380"/>
                </a:solidFill>
                <a:latin typeface="Calibri" pitchFamily="34" charset="0"/>
                <a:ea typeface="Calibri" pitchFamily="34" charset="-122"/>
                <a:cs typeface="Calibri" pitchFamily="34" charset="-120"/>
              </a:rPr>
              <a:t>N  —  Tenure in months</a:t>
            </a:r>
            <a:endParaRPr lang="en-US" sz="1200" dirty="0"/>
          </a:p>
        </p:txBody>
      </p:sp>
      <p:sp>
        <p:nvSpPr>
          <p:cNvPr id="11" name="Shape 9">
            <a:extLst>
              <a:ext uri="{FF2B5EF4-FFF2-40B4-BE49-F238E27FC236}">
                <a16:creationId xmlns:a16="http://schemas.microsoft.com/office/drawing/2014/main" id="{4721986C-B72F-E807-A910-C87B05477F80}"/>
              </a:ext>
            </a:extLst>
          </p:cNvPr>
          <p:cNvSpPr/>
          <p:nvPr/>
        </p:nvSpPr>
        <p:spPr>
          <a:xfrm>
            <a:off x="5943600" y="1325880"/>
            <a:ext cx="2788920" cy="1005840"/>
          </a:xfrm>
          <a:prstGeom prst="roundRect">
            <a:avLst>
              <a:gd name="adj" fmla="val 10909"/>
            </a:avLst>
          </a:prstGeom>
          <a:solidFill>
            <a:srgbClr val="FDEEF4"/>
          </a:solidFill>
          <a:ln w="12700">
            <a:solidFill>
              <a:srgbClr val="7C5CBF">
                <a:alpha val="25000"/>
              </a:srgbClr>
            </a:solidFill>
            <a:prstDash val="solid"/>
          </a:ln>
          <a:effectLst>
            <a:outerShdw blurRad="101600" dist="25400" dir="8100000" algn="bl" rotWithShape="0">
              <a:srgbClr val="9B8FBB">
                <a:alpha val="13000"/>
              </a:srgbClr>
            </a:outerShdw>
          </a:effectLst>
        </p:spPr>
      </p:sp>
      <p:sp>
        <p:nvSpPr>
          <p:cNvPr id="12" name="Text 10">
            <a:extLst>
              <a:ext uri="{FF2B5EF4-FFF2-40B4-BE49-F238E27FC236}">
                <a16:creationId xmlns:a16="http://schemas.microsoft.com/office/drawing/2014/main" id="{40930933-78EA-B919-B25F-8517B628C513}"/>
              </a:ext>
            </a:extLst>
          </p:cNvPr>
          <p:cNvSpPr/>
          <p:nvPr/>
        </p:nvSpPr>
        <p:spPr>
          <a:xfrm>
            <a:off x="6053328" y="1371600"/>
            <a:ext cx="2578608" cy="347472"/>
          </a:xfrm>
          <a:prstGeom prst="rect">
            <a:avLst/>
          </a:prstGeom>
          <a:noFill/>
          <a:ln/>
        </p:spPr>
        <p:txBody>
          <a:bodyPr wrap="square" lIns="0" tIns="0" rIns="0" bIns="0" rtlCol="0" anchor="ctr"/>
          <a:lstStyle/>
          <a:p>
            <a:pPr marL="0" indent="0">
              <a:buNone/>
            </a:pPr>
            <a:r>
              <a:rPr lang="en-US" sz="1100" dirty="0">
                <a:solidFill>
                  <a:srgbClr val="5A5278"/>
                </a:solidFill>
                <a:latin typeface="Calibri" pitchFamily="34" charset="0"/>
                <a:ea typeface="Calibri" pitchFamily="34" charset="-122"/>
                <a:cs typeface="Calibri" pitchFamily="34" charset="-120"/>
              </a:rPr>
              <a:t>Monthly EMI</a:t>
            </a:r>
            <a:endParaRPr lang="en-US" sz="1100" dirty="0"/>
          </a:p>
        </p:txBody>
      </p:sp>
      <p:sp>
        <p:nvSpPr>
          <p:cNvPr id="13" name="Text 11">
            <a:extLst>
              <a:ext uri="{FF2B5EF4-FFF2-40B4-BE49-F238E27FC236}">
                <a16:creationId xmlns:a16="http://schemas.microsoft.com/office/drawing/2014/main" id="{18A53025-E6EB-06FF-5441-031D77DBD0D3}"/>
              </a:ext>
            </a:extLst>
          </p:cNvPr>
          <p:cNvSpPr/>
          <p:nvPr/>
        </p:nvSpPr>
        <p:spPr>
          <a:xfrm>
            <a:off x="6053328" y="1719072"/>
            <a:ext cx="2578608" cy="457200"/>
          </a:xfrm>
          <a:prstGeom prst="rect">
            <a:avLst/>
          </a:prstGeom>
          <a:noFill/>
          <a:ln/>
        </p:spPr>
        <p:txBody>
          <a:bodyPr wrap="square" lIns="0" tIns="0" rIns="0" bIns="0" rtlCol="0" anchor="ctr"/>
          <a:lstStyle/>
          <a:p>
            <a:pPr marL="0" indent="0">
              <a:buNone/>
            </a:pPr>
            <a:r>
              <a:rPr lang="en-US" sz="2000" b="1" dirty="0">
                <a:solidFill>
                  <a:srgbClr val="3D3455"/>
                </a:solidFill>
                <a:latin typeface="Georgia" pitchFamily="34" charset="0"/>
                <a:ea typeface="Georgia" pitchFamily="34" charset="-122"/>
                <a:cs typeface="Georgia" pitchFamily="34" charset="-120"/>
              </a:rPr>
              <a:t>₹23,072</a:t>
            </a:r>
            <a:endParaRPr lang="en-US" sz="2000" dirty="0"/>
          </a:p>
        </p:txBody>
      </p:sp>
      <p:sp>
        <p:nvSpPr>
          <p:cNvPr id="14" name="Shape 12">
            <a:extLst>
              <a:ext uri="{FF2B5EF4-FFF2-40B4-BE49-F238E27FC236}">
                <a16:creationId xmlns:a16="http://schemas.microsoft.com/office/drawing/2014/main" id="{505F3188-8CDB-0E6F-4F22-C988199732BC}"/>
              </a:ext>
            </a:extLst>
          </p:cNvPr>
          <p:cNvSpPr/>
          <p:nvPr/>
        </p:nvSpPr>
        <p:spPr>
          <a:xfrm>
            <a:off x="5943600" y="2496312"/>
            <a:ext cx="2788920" cy="1005840"/>
          </a:xfrm>
          <a:prstGeom prst="roundRect">
            <a:avLst>
              <a:gd name="adj" fmla="val 10909"/>
            </a:avLst>
          </a:prstGeom>
          <a:solidFill>
            <a:srgbClr val="E3F5F0"/>
          </a:solidFill>
          <a:ln w="12700">
            <a:solidFill>
              <a:srgbClr val="7C5CBF">
                <a:alpha val="25000"/>
              </a:srgbClr>
            </a:solidFill>
            <a:prstDash val="solid"/>
          </a:ln>
          <a:effectLst>
            <a:outerShdw blurRad="101600" dist="25400" dir="8100000" algn="bl" rotWithShape="0">
              <a:srgbClr val="9B8FBB">
                <a:alpha val="13000"/>
              </a:srgbClr>
            </a:outerShdw>
          </a:effectLst>
        </p:spPr>
      </p:sp>
      <p:sp>
        <p:nvSpPr>
          <p:cNvPr id="15" name="Text 13">
            <a:extLst>
              <a:ext uri="{FF2B5EF4-FFF2-40B4-BE49-F238E27FC236}">
                <a16:creationId xmlns:a16="http://schemas.microsoft.com/office/drawing/2014/main" id="{20616FD9-A907-2324-0EDB-7C45806B4EF4}"/>
              </a:ext>
            </a:extLst>
          </p:cNvPr>
          <p:cNvSpPr/>
          <p:nvPr/>
        </p:nvSpPr>
        <p:spPr>
          <a:xfrm>
            <a:off x="6053328" y="2542032"/>
            <a:ext cx="2578608" cy="347472"/>
          </a:xfrm>
          <a:prstGeom prst="rect">
            <a:avLst/>
          </a:prstGeom>
          <a:noFill/>
          <a:ln/>
        </p:spPr>
        <p:txBody>
          <a:bodyPr wrap="square" lIns="0" tIns="0" rIns="0" bIns="0" rtlCol="0" anchor="ctr"/>
          <a:lstStyle/>
          <a:p>
            <a:pPr marL="0" indent="0">
              <a:buNone/>
            </a:pPr>
            <a:r>
              <a:rPr lang="en-US" sz="1100" dirty="0">
                <a:solidFill>
                  <a:srgbClr val="5A5278"/>
                </a:solidFill>
                <a:latin typeface="Calibri" pitchFamily="34" charset="0"/>
                <a:ea typeface="Calibri" pitchFamily="34" charset="-122"/>
                <a:cs typeface="Calibri" pitchFamily="34" charset="-120"/>
              </a:rPr>
              <a:t>Total Payment</a:t>
            </a:r>
            <a:endParaRPr lang="en-US" sz="1100" dirty="0"/>
          </a:p>
        </p:txBody>
      </p:sp>
      <p:sp>
        <p:nvSpPr>
          <p:cNvPr id="16" name="Text 14">
            <a:extLst>
              <a:ext uri="{FF2B5EF4-FFF2-40B4-BE49-F238E27FC236}">
                <a16:creationId xmlns:a16="http://schemas.microsoft.com/office/drawing/2014/main" id="{363DB87E-950F-618E-DDDE-2A9F12AAC54B}"/>
              </a:ext>
            </a:extLst>
          </p:cNvPr>
          <p:cNvSpPr/>
          <p:nvPr/>
        </p:nvSpPr>
        <p:spPr>
          <a:xfrm>
            <a:off x="6053328" y="2889504"/>
            <a:ext cx="2578608" cy="457200"/>
          </a:xfrm>
          <a:prstGeom prst="rect">
            <a:avLst/>
          </a:prstGeom>
          <a:noFill/>
          <a:ln/>
        </p:spPr>
        <p:txBody>
          <a:bodyPr wrap="square" lIns="0" tIns="0" rIns="0" bIns="0" rtlCol="0" anchor="ctr"/>
          <a:lstStyle/>
          <a:p>
            <a:pPr marL="0" indent="0">
              <a:buNone/>
            </a:pPr>
            <a:r>
              <a:rPr lang="en-US" sz="2000" b="1" dirty="0">
                <a:solidFill>
                  <a:srgbClr val="3D3455"/>
                </a:solidFill>
                <a:latin typeface="Georgia" pitchFamily="34" charset="0"/>
                <a:ea typeface="Georgia" pitchFamily="34" charset="-122"/>
                <a:cs typeface="Georgia" pitchFamily="34" charset="-120"/>
              </a:rPr>
              <a:t>₹5,53,728</a:t>
            </a:r>
            <a:endParaRPr lang="en-US" sz="2000" dirty="0"/>
          </a:p>
        </p:txBody>
      </p:sp>
      <p:sp>
        <p:nvSpPr>
          <p:cNvPr id="17" name="Shape 15">
            <a:extLst>
              <a:ext uri="{FF2B5EF4-FFF2-40B4-BE49-F238E27FC236}">
                <a16:creationId xmlns:a16="http://schemas.microsoft.com/office/drawing/2014/main" id="{14EB1216-7983-BCE6-1BCC-47FC11F90C59}"/>
              </a:ext>
            </a:extLst>
          </p:cNvPr>
          <p:cNvSpPr/>
          <p:nvPr/>
        </p:nvSpPr>
        <p:spPr>
          <a:xfrm>
            <a:off x="5943600" y="3666744"/>
            <a:ext cx="2788920" cy="1005840"/>
          </a:xfrm>
          <a:prstGeom prst="roundRect">
            <a:avLst>
              <a:gd name="adj" fmla="val 10909"/>
            </a:avLst>
          </a:prstGeom>
          <a:solidFill>
            <a:srgbClr val="E3EEF8"/>
          </a:solidFill>
          <a:ln w="12700">
            <a:solidFill>
              <a:srgbClr val="7C5CBF">
                <a:alpha val="25000"/>
              </a:srgbClr>
            </a:solidFill>
            <a:prstDash val="solid"/>
          </a:ln>
          <a:effectLst>
            <a:outerShdw blurRad="101600" dist="25400" dir="8100000" algn="bl" rotWithShape="0">
              <a:srgbClr val="9B8FBB">
                <a:alpha val="13000"/>
              </a:srgbClr>
            </a:outerShdw>
          </a:effectLst>
        </p:spPr>
      </p:sp>
      <p:sp>
        <p:nvSpPr>
          <p:cNvPr id="18" name="Text 16">
            <a:extLst>
              <a:ext uri="{FF2B5EF4-FFF2-40B4-BE49-F238E27FC236}">
                <a16:creationId xmlns:a16="http://schemas.microsoft.com/office/drawing/2014/main" id="{C464B693-B4E6-04CB-A1A9-0AE3D7860A15}"/>
              </a:ext>
            </a:extLst>
          </p:cNvPr>
          <p:cNvSpPr/>
          <p:nvPr/>
        </p:nvSpPr>
        <p:spPr>
          <a:xfrm>
            <a:off x="6053328" y="3712464"/>
            <a:ext cx="2578608" cy="347472"/>
          </a:xfrm>
          <a:prstGeom prst="rect">
            <a:avLst/>
          </a:prstGeom>
          <a:noFill/>
          <a:ln/>
        </p:spPr>
        <p:txBody>
          <a:bodyPr wrap="square" lIns="0" tIns="0" rIns="0" bIns="0" rtlCol="0" anchor="ctr"/>
          <a:lstStyle/>
          <a:p>
            <a:pPr marL="0" indent="0">
              <a:buNone/>
            </a:pPr>
            <a:r>
              <a:rPr lang="en-US" sz="1100" dirty="0">
                <a:solidFill>
                  <a:srgbClr val="5A5278"/>
                </a:solidFill>
                <a:latin typeface="Calibri" pitchFamily="34" charset="0"/>
                <a:ea typeface="Calibri" pitchFamily="34" charset="-122"/>
                <a:cs typeface="Calibri" pitchFamily="34" charset="-120"/>
              </a:rPr>
              <a:t>Total Interest</a:t>
            </a:r>
            <a:endParaRPr lang="en-US" sz="1100" dirty="0"/>
          </a:p>
        </p:txBody>
      </p:sp>
      <p:sp>
        <p:nvSpPr>
          <p:cNvPr id="19" name="Text 17">
            <a:extLst>
              <a:ext uri="{FF2B5EF4-FFF2-40B4-BE49-F238E27FC236}">
                <a16:creationId xmlns:a16="http://schemas.microsoft.com/office/drawing/2014/main" id="{DB2FE3AF-2772-2809-D0D7-A9BE7C5514F7}"/>
              </a:ext>
            </a:extLst>
          </p:cNvPr>
          <p:cNvSpPr/>
          <p:nvPr/>
        </p:nvSpPr>
        <p:spPr>
          <a:xfrm>
            <a:off x="6053328" y="4059936"/>
            <a:ext cx="2578608" cy="457200"/>
          </a:xfrm>
          <a:prstGeom prst="rect">
            <a:avLst/>
          </a:prstGeom>
          <a:noFill/>
          <a:ln/>
        </p:spPr>
        <p:txBody>
          <a:bodyPr wrap="square" lIns="0" tIns="0" rIns="0" bIns="0" rtlCol="0" anchor="ctr"/>
          <a:lstStyle/>
          <a:p>
            <a:pPr marL="0" indent="0">
              <a:buNone/>
            </a:pPr>
            <a:r>
              <a:rPr lang="en-US" sz="2000" b="1" dirty="0">
                <a:solidFill>
                  <a:srgbClr val="3D3455"/>
                </a:solidFill>
                <a:latin typeface="Georgia" pitchFamily="34" charset="0"/>
                <a:ea typeface="Georgia" pitchFamily="34" charset="-122"/>
                <a:cs typeface="Georgia" pitchFamily="34" charset="-120"/>
              </a:rPr>
              <a:t>₹53,728</a:t>
            </a:r>
            <a:endParaRPr lang="en-US" sz="2000" dirty="0"/>
          </a:p>
        </p:txBody>
      </p:sp>
      <p:sp>
        <p:nvSpPr>
          <p:cNvPr id="20" name="Text 18">
            <a:extLst>
              <a:ext uri="{FF2B5EF4-FFF2-40B4-BE49-F238E27FC236}">
                <a16:creationId xmlns:a16="http://schemas.microsoft.com/office/drawing/2014/main" id="{21F255EA-C131-433B-46F1-48E3D32761C7}"/>
              </a:ext>
            </a:extLst>
          </p:cNvPr>
          <p:cNvSpPr/>
          <p:nvPr/>
        </p:nvSpPr>
        <p:spPr>
          <a:xfrm>
            <a:off x="5943600" y="4681728"/>
            <a:ext cx="2788920" cy="274320"/>
          </a:xfrm>
          <a:prstGeom prst="rect">
            <a:avLst/>
          </a:prstGeom>
          <a:noFill/>
          <a:ln/>
        </p:spPr>
        <p:txBody>
          <a:bodyPr wrap="square" lIns="0" tIns="0" rIns="0" bIns="0" rtlCol="0" anchor="ctr"/>
          <a:lstStyle/>
          <a:p>
            <a:pPr marL="0" indent="0" algn="ctr">
              <a:buNone/>
            </a:pPr>
            <a:r>
              <a:rPr lang="en-US" sz="1400" i="1" dirty="0">
                <a:solidFill>
                  <a:srgbClr val="6B6380"/>
                </a:solidFill>
                <a:latin typeface="Calibri" pitchFamily="34" charset="0"/>
                <a:ea typeface="Calibri" pitchFamily="34" charset="-122"/>
                <a:cs typeface="Calibri" pitchFamily="34" charset="-120"/>
              </a:rPr>
              <a:t>Example: ₹5L loan @ 10% for 2 years</a:t>
            </a:r>
            <a:endParaRPr lang="en-US" sz="1400" dirty="0"/>
          </a:p>
        </p:txBody>
      </p:sp>
      <p:sp>
        <p:nvSpPr>
          <p:cNvPr id="21" name="Rectangle 1">
            <a:extLst>
              <a:ext uri="{FF2B5EF4-FFF2-40B4-BE49-F238E27FC236}">
                <a16:creationId xmlns:a16="http://schemas.microsoft.com/office/drawing/2014/main" id="{152C0C3E-6784-19D2-D74F-8B0C04309D19}"/>
              </a:ext>
            </a:extLst>
          </p:cNvPr>
          <p:cNvSpPr>
            <a:spLocks noChangeArrowheads="1"/>
          </p:cNvSpPr>
          <p:nvPr/>
        </p:nvSpPr>
        <p:spPr bwMode="auto">
          <a:xfrm>
            <a:off x="457200" y="726161"/>
            <a:ext cx="868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rPr>
              <a:t>Calculate EMI (Equated Monthly Installment) to help users understand their monthly loan repayment obligations quickly and accurately.</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56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E8E0F0"/>
        </a:solidFill>
        <a:effectLst/>
      </p:bgPr>
    </p:bg>
    <p:spTree>
      <p:nvGrpSpPr>
        <p:cNvPr id="1" name=""/>
        <p:cNvGrpSpPr/>
        <p:nvPr/>
      </p:nvGrpSpPr>
      <p:grpSpPr>
        <a:xfrm>
          <a:off x="0" y="0"/>
          <a:ext cx="0" cy="0"/>
          <a:chOff x="0" y="0"/>
          <a:chExt cx="0" cy="0"/>
        </a:xfrm>
      </p:grpSpPr>
      <p:sp>
        <p:nvSpPr>
          <p:cNvPr id="2" name="Shape 0"/>
          <p:cNvSpPr/>
          <p:nvPr/>
        </p:nvSpPr>
        <p:spPr>
          <a:xfrm>
            <a:off x="7955280" y="-640080"/>
            <a:ext cx="2194560" cy="2194560"/>
          </a:xfrm>
          <a:prstGeom prst="ellipse">
            <a:avLst/>
          </a:prstGeom>
          <a:solidFill>
            <a:srgbClr val="C9637A">
              <a:alpha val="17000"/>
            </a:srgbClr>
          </a:solidFill>
          <a:ln w="12700">
            <a:solidFill>
              <a:srgbClr val="C9637A">
                <a:alpha val="17000"/>
              </a:srgbClr>
            </a:solidFill>
            <a:prstDash val="solid"/>
          </a:ln>
        </p:spPr>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  Investment Advice</a:t>
            </a:r>
            <a:endParaRPr lang="en-US" sz="28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600" dirty="0">
                <a:solidFill>
                  <a:srgbClr val="5A5278"/>
                </a:solidFill>
                <a:latin typeface="Calibri" pitchFamily="34" charset="0"/>
                <a:ea typeface="Calibri" pitchFamily="34" charset="-122"/>
                <a:cs typeface="Calibri" pitchFamily="34" charset="-120"/>
              </a:rPr>
              <a:t>Tailored suggestions based on your comfort with risk</a:t>
            </a:r>
            <a:endParaRPr lang="en-US" sz="1600" dirty="0"/>
          </a:p>
        </p:txBody>
      </p:sp>
      <p:sp>
        <p:nvSpPr>
          <p:cNvPr id="5" name="Shape 3"/>
          <p:cNvSpPr/>
          <p:nvPr/>
        </p:nvSpPr>
        <p:spPr>
          <a:xfrm>
            <a:off x="411480" y="1371600"/>
            <a:ext cx="8321040" cy="1024128"/>
          </a:xfrm>
          <a:prstGeom prst="roundRect">
            <a:avLst>
              <a:gd name="adj" fmla="val 10714"/>
            </a:avLst>
          </a:prstGeom>
          <a:solidFill>
            <a:srgbClr val="E3F5F0"/>
          </a:solidFill>
          <a:ln w="12700">
            <a:solidFill>
              <a:srgbClr val="3A9E8D">
                <a:alpha val="30000"/>
              </a:srgbClr>
            </a:solidFill>
            <a:prstDash val="solid"/>
          </a:ln>
          <a:effectLst>
            <a:outerShdw blurRad="101600" dist="25400" dir="8100000" algn="bl" rotWithShape="0">
              <a:srgbClr val="9B8FBB">
                <a:alpha val="13000"/>
              </a:srgbClr>
            </a:outerShdw>
          </a:effectLst>
        </p:spPr>
      </p:sp>
      <p:sp>
        <p:nvSpPr>
          <p:cNvPr id="6" name="Text 4"/>
          <p:cNvSpPr/>
          <p:nvPr/>
        </p:nvSpPr>
        <p:spPr>
          <a:xfrm>
            <a:off x="594360" y="1426464"/>
            <a:ext cx="2743200" cy="384048"/>
          </a:xfrm>
          <a:prstGeom prst="rect">
            <a:avLst/>
          </a:prstGeom>
          <a:noFill/>
          <a:ln/>
        </p:spPr>
        <p:txBody>
          <a:bodyPr wrap="square" lIns="0" tIns="0" rIns="0" bIns="0" rtlCol="0" anchor="ctr"/>
          <a:lstStyle/>
          <a:p>
            <a:pPr marL="0" indent="0">
              <a:buNone/>
            </a:pPr>
            <a:r>
              <a:rPr lang="en-US" sz="1350" b="1" dirty="0">
                <a:solidFill>
                  <a:srgbClr val="3D3455"/>
                </a:solidFill>
                <a:latin typeface="Calibri" pitchFamily="34" charset="0"/>
                <a:ea typeface="Calibri" pitchFamily="34" charset="-122"/>
                <a:cs typeface="Calibri" pitchFamily="34" charset="-120"/>
              </a:rPr>
              <a:t>🟢  </a:t>
            </a:r>
            <a:r>
              <a:rPr lang="en-US" sz="1600" b="1" dirty="0">
                <a:solidFill>
                  <a:srgbClr val="3D3455"/>
                </a:solidFill>
                <a:latin typeface="Calibri" pitchFamily="34" charset="0"/>
                <a:ea typeface="Calibri" pitchFamily="34" charset="-122"/>
                <a:cs typeface="Calibri" pitchFamily="34" charset="-120"/>
              </a:rPr>
              <a:t>Low Risk</a:t>
            </a:r>
            <a:endParaRPr lang="en-US" sz="1600" dirty="0"/>
          </a:p>
        </p:txBody>
      </p:sp>
      <p:sp>
        <p:nvSpPr>
          <p:cNvPr id="7" name="Text 5"/>
          <p:cNvSpPr/>
          <p:nvPr/>
        </p:nvSpPr>
        <p:spPr>
          <a:xfrm>
            <a:off x="3383280" y="1417320"/>
            <a:ext cx="3017520" cy="384048"/>
          </a:xfrm>
          <a:prstGeom prst="rect">
            <a:avLst/>
          </a:prstGeom>
          <a:noFill/>
          <a:ln/>
        </p:spPr>
        <p:txBody>
          <a:bodyPr wrap="square" lIns="0" tIns="0" rIns="0" bIns="0" rtlCol="0" anchor="ctr"/>
          <a:lstStyle/>
          <a:p>
            <a:pPr marL="0" indent="0">
              <a:buNone/>
            </a:pPr>
            <a:r>
              <a:rPr lang="en-US" sz="1400" b="1" dirty="0">
                <a:solidFill>
                  <a:srgbClr val="3A9E8D"/>
                </a:solidFill>
                <a:latin typeface="Calibri" pitchFamily="34" charset="0"/>
                <a:ea typeface="Calibri" pitchFamily="34" charset="-122"/>
                <a:cs typeface="Calibri" pitchFamily="34" charset="-120"/>
              </a:rPr>
              <a:t>Fixed Deposits · Government Bonds</a:t>
            </a:r>
            <a:endParaRPr lang="en-US" sz="1400" dirty="0"/>
          </a:p>
        </p:txBody>
      </p:sp>
      <p:sp>
        <p:nvSpPr>
          <p:cNvPr id="8" name="Text 6"/>
          <p:cNvSpPr/>
          <p:nvPr/>
        </p:nvSpPr>
        <p:spPr>
          <a:xfrm>
            <a:off x="594360" y="1847088"/>
            <a:ext cx="7955280" cy="384048"/>
          </a:xfrm>
          <a:prstGeom prst="rect">
            <a:avLst/>
          </a:prstGeom>
          <a:noFill/>
          <a:ln/>
        </p:spPr>
        <p:txBody>
          <a:bodyPr wrap="square" lIns="0" tIns="0" rIns="0" bIns="0" rtlCol="0" anchor="ctr"/>
          <a:lstStyle/>
          <a:p>
            <a:pPr marL="0" indent="0">
              <a:buNone/>
            </a:pPr>
            <a:r>
              <a:rPr lang="en-US" sz="1400" i="1" dirty="0">
                <a:solidFill>
                  <a:srgbClr val="6B6380"/>
                </a:solidFill>
                <a:latin typeface="Calibri" pitchFamily="34" charset="0"/>
                <a:ea typeface="Calibri" pitchFamily="34" charset="-122"/>
                <a:cs typeface="Calibri" pitchFamily="34" charset="-120"/>
              </a:rPr>
              <a:t>Stable, guaranteed returns with capital protection. Ideal for conservative savers.</a:t>
            </a:r>
            <a:endParaRPr lang="en-US" sz="1400" dirty="0"/>
          </a:p>
        </p:txBody>
      </p:sp>
      <p:sp>
        <p:nvSpPr>
          <p:cNvPr id="9" name="Shape 7"/>
          <p:cNvSpPr/>
          <p:nvPr/>
        </p:nvSpPr>
        <p:spPr>
          <a:xfrm>
            <a:off x="411480" y="2560320"/>
            <a:ext cx="8321040" cy="1024128"/>
          </a:xfrm>
          <a:prstGeom prst="roundRect">
            <a:avLst>
              <a:gd name="adj" fmla="val 10714"/>
            </a:avLst>
          </a:prstGeom>
          <a:solidFill>
            <a:srgbClr val="FEF0E7"/>
          </a:solidFill>
          <a:ln w="12700">
            <a:solidFill>
              <a:srgbClr val="C9637A">
                <a:alpha val="30000"/>
              </a:srgbClr>
            </a:solidFill>
            <a:prstDash val="solid"/>
          </a:ln>
          <a:effectLst>
            <a:outerShdw blurRad="101600" dist="25400" dir="8100000" algn="bl" rotWithShape="0">
              <a:srgbClr val="9B8FBB">
                <a:alpha val="13000"/>
              </a:srgbClr>
            </a:outerShdw>
          </a:effectLst>
        </p:spPr>
      </p:sp>
      <p:sp>
        <p:nvSpPr>
          <p:cNvPr id="10" name="Text 8"/>
          <p:cNvSpPr/>
          <p:nvPr/>
        </p:nvSpPr>
        <p:spPr>
          <a:xfrm>
            <a:off x="594360" y="2615184"/>
            <a:ext cx="2743200" cy="384048"/>
          </a:xfrm>
          <a:prstGeom prst="rect">
            <a:avLst/>
          </a:prstGeom>
          <a:noFill/>
          <a:ln/>
        </p:spPr>
        <p:txBody>
          <a:bodyPr wrap="square" lIns="0" tIns="0" rIns="0" bIns="0" rtlCol="0" anchor="ctr"/>
          <a:lstStyle/>
          <a:p>
            <a:pPr marL="0" indent="0">
              <a:buNone/>
            </a:pPr>
            <a:r>
              <a:rPr lang="en-US" sz="1600" b="1" dirty="0">
                <a:solidFill>
                  <a:srgbClr val="3D3455"/>
                </a:solidFill>
                <a:latin typeface="Calibri" pitchFamily="34" charset="0"/>
                <a:ea typeface="Calibri" pitchFamily="34" charset="-122"/>
                <a:cs typeface="Calibri" pitchFamily="34" charset="-120"/>
              </a:rPr>
              <a:t>🟡  Medium Risk</a:t>
            </a:r>
            <a:endParaRPr lang="en-US" sz="1600" dirty="0"/>
          </a:p>
        </p:txBody>
      </p:sp>
      <p:sp>
        <p:nvSpPr>
          <p:cNvPr id="11" name="Text 9"/>
          <p:cNvSpPr/>
          <p:nvPr/>
        </p:nvSpPr>
        <p:spPr>
          <a:xfrm>
            <a:off x="3383280" y="2606040"/>
            <a:ext cx="3017520" cy="384048"/>
          </a:xfrm>
          <a:prstGeom prst="rect">
            <a:avLst/>
          </a:prstGeom>
          <a:noFill/>
          <a:ln/>
        </p:spPr>
        <p:txBody>
          <a:bodyPr wrap="square" lIns="0" tIns="0" rIns="0" bIns="0" rtlCol="0" anchor="ctr"/>
          <a:lstStyle/>
          <a:p>
            <a:pPr marL="0" indent="0">
              <a:buNone/>
            </a:pPr>
            <a:r>
              <a:rPr lang="en-US" sz="1400" b="1" dirty="0">
                <a:solidFill>
                  <a:srgbClr val="C9637A"/>
                </a:solidFill>
                <a:latin typeface="Calibri" pitchFamily="34" charset="0"/>
                <a:ea typeface="Calibri" pitchFamily="34" charset="-122"/>
                <a:cs typeface="Calibri" pitchFamily="34" charset="-120"/>
              </a:rPr>
              <a:t>Mutual Funds · SIPs</a:t>
            </a:r>
            <a:endParaRPr lang="en-US" sz="1400" dirty="0"/>
          </a:p>
        </p:txBody>
      </p:sp>
      <p:sp>
        <p:nvSpPr>
          <p:cNvPr id="12" name="Text 10"/>
          <p:cNvSpPr/>
          <p:nvPr/>
        </p:nvSpPr>
        <p:spPr>
          <a:xfrm>
            <a:off x="594360" y="3035808"/>
            <a:ext cx="7955280" cy="384048"/>
          </a:xfrm>
          <a:prstGeom prst="rect">
            <a:avLst/>
          </a:prstGeom>
          <a:noFill/>
          <a:ln/>
        </p:spPr>
        <p:txBody>
          <a:bodyPr wrap="square" lIns="0" tIns="0" rIns="0" bIns="0" rtlCol="0" anchor="ctr"/>
          <a:lstStyle/>
          <a:p>
            <a:pPr marL="0" indent="0">
              <a:buNone/>
            </a:pPr>
            <a:r>
              <a:rPr lang="en-US" sz="1400" i="1" dirty="0">
                <a:solidFill>
                  <a:srgbClr val="6B6380"/>
                </a:solidFill>
                <a:latin typeface="Calibri" pitchFamily="34" charset="0"/>
                <a:ea typeface="Calibri" pitchFamily="34" charset="-122"/>
                <a:cs typeface="Calibri" pitchFamily="34" charset="-120"/>
              </a:rPr>
              <a:t>Market-linked growth with diversification. Best for steady, long-term wealth building.</a:t>
            </a:r>
            <a:endParaRPr lang="en-US" sz="1400" dirty="0"/>
          </a:p>
        </p:txBody>
      </p:sp>
      <p:sp>
        <p:nvSpPr>
          <p:cNvPr id="13" name="Shape 11"/>
          <p:cNvSpPr/>
          <p:nvPr/>
        </p:nvSpPr>
        <p:spPr>
          <a:xfrm>
            <a:off x="411480" y="3784210"/>
            <a:ext cx="8321040" cy="1024128"/>
          </a:xfrm>
          <a:prstGeom prst="roundRect">
            <a:avLst>
              <a:gd name="adj" fmla="val 10714"/>
            </a:avLst>
          </a:prstGeom>
          <a:solidFill>
            <a:srgbClr val="EDE8F7"/>
          </a:solidFill>
          <a:ln w="12700">
            <a:solidFill>
              <a:srgbClr val="7C5CBF">
                <a:alpha val="30000"/>
              </a:srgbClr>
            </a:solidFill>
            <a:prstDash val="solid"/>
          </a:ln>
          <a:effectLst>
            <a:outerShdw blurRad="101600" dist="25400" dir="8100000" algn="bl" rotWithShape="0">
              <a:srgbClr val="9B8FBB">
                <a:alpha val="13000"/>
              </a:srgbClr>
            </a:outerShdw>
          </a:effectLst>
        </p:spPr>
      </p:sp>
      <p:sp>
        <p:nvSpPr>
          <p:cNvPr id="14" name="Text 12"/>
          <p:cNvSpPr/>
          <p:nvPr/>
        </p:nvSpPr>
        <p:spPr>
          <a:xfrm>
            <a:off x="594360" y="3803904"/>
            <a:ext cx="2743200" cy="384048"/>
          </a:xfrm>
          <a:prstGeom prst="rect">
            <a:avLst/>
          </a:prstGeom>
          <a:noFill/>
          <a:ln/>
        </p:spPr>
        <p:txBody>
          <a:bodyPr wrap="square" lIns="0" tIns="0" rIns="0" bIns="0" rtlCol="0" anchor="ctr"/>
          <a:lstStyle/>
          <a:p>
            <a:pPr marL="0" indent="0">
              <a:buNone/>
            </a:pPr>
            <a:r>
              <a:rPr lang="en-US" sz="1350" b="1" dirty="0">
                <a:solidFill>
                  <a:srgbClr val="3D3455"/>
                </a:solidFill>
                <a:latin typeface="Calibri" pitchFamily="34" charset="0"/>
                <a:ea typeface="Calibri" pitchFamily="34" charset="-122"/>
                <a:cs typeface="Calibri" pitchFamily="34" charset="-120"/>
              </a:rPr>
              <a:t>🔴  </a:t>
            </a:r>
            <a:r>
              <a:rPr lang="en-US" sz="1600" b="1" dirty="0">
                <a:solidFill>
                  <a:srgbClr val="3D3455"/>
                </a:solidFill>
                <a:latin typeface="Calibri" pitchFamily="34" charset="0"/>
                <a:ea typeface="Calibri" pitchFamily="34" charset="-122"/>
                <a:cs typeface="Calibri" pitchFamily="34" charset="-120"/>
              </a:rPr>
              <a:t>High Risk</a:t>
            </a:r>
            <a:endParaRPr lang="en-US" sz="1600" dirty="0"/>
          </a:p>
        </p:txBody>
      </p:sp>
      <p:sp>
        <p:nvSpPr>
          <p:cNvPr id="15" name="Text 13"/>
          <p:cNvSpPr/>
          <p:nvPr/>
        </p:nvSpPr>
        <p:spPr>
          <a:xfrm>
            <a:off x="3383280" y="3794760"/>
            <a:ext cx="3017520" cy="384048"/>
          </a:xfrm>
          <a:prstGeom prst="rect">
            <a:avLst/>
          </a:prstGeom>
          <a:noFill/>
          <a:ln/>
        </p:spPr>
        <p:txBody>
          <a:bodyPr wrap="square" lIns="0" tIns="0" rIns="0" bIns="0" rtlCol="0" anchor="ctr"/>
          <a:lstStyle/>
          <a:p>
            <a:pPr marL="0" indent="0">
              <a:buNone/>
            </a:pPr>
            <a:r>
              <a:rPr lang="en-US" sz="1400" b="1" dirty="0">
                <a:solidFill>
                  <a:srgbClr val="7C5CBF"/>
                </a:solidFill>
                <a:latin typeface="Calibri" pitchFamily="34" charset="0"/>
                <a:ea typeface="Calibri" pitchFamily="34" charset="-122"/>
                <a:cs typeface="Calibri" pitchFamily="34" charset="-120"/>
              </a:rPr>
              <a:t>Stocks · Cryptocurrency</a:t>
            </a:r>
            <a:endParaRPr lang="en-US" sz="1400" dirty="0"/>
          </a:p>
        </p:txBody>
      </p:sp>
      <p:sp>
        <p:nvSpPr>
          <p:cNvPr id="16" name="Text 14"/>
          <p:cNvSpPr/>
          <p:nvPr/>
        </p:nvSpPr>
        <p:spPr>
          <a:xfrm>
            <a:off x="594360" y="4224528"/>
            <a:ext cx="7955280" cy="384048"/>
          </a:xfrm>
          <a:prstGeom prst="rect">
            <a:avLst/>
          </a:prstGeom>
          <a:noFill/>
          <a:ln/>
        </p:spPr>
        <p:txBody>
          <a:bodyPr wrap="square" lIns="0" tIns="0" rIns="0" bIns="0" rtlCol="0" anchor="ctr"/>
          <a:lstStyle/>
          <a:p>
            <a:pPr marL="0" indent="0">
              <a:buNone/>
            </a:pPr>
            <a:r>
              <a:rPr lang="en-US" sz="1400" i="1" dirty="0">
                <a:solidFill>
                  <a:srgbClr val="6B6380"/>
                </a:solidFill>
                <a:latin typeface="Calibri" pitchFamily="34" charset="0"/>
                <a:ea typeface="Calibri" pitchFamily="34" charset="-122"/>
                <a:cs typeface="Calibri" pitchFamily="34" charset="-120"/>
              </a:rPr>
              <a:t>High return potential with significant volatility. Suited for risk-tolerant investors.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F4F1"/>
        </a:solidFill>
        <a:effectLst/>
      </p:bgPr>
    </p:bg>
    <p:spTree>
      <p:nvGrpSpPr>
        <p:cNvPr id="1" name="">
          <a:extLst>
            <a:ext uri="{FF2B5EF4-FFF2-40B4-BE49-F238E27FC236}">
              <a16:creationId xmlns:a16="http://schemas.microsoft.com/office/drawing/2014/main" id="{00F095DE-1AB8-0568-36AA-4788CCB242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7F4506-6D9A-07CD-0999-44673EEB3073}"/>
              </a:ext>
            </a:extLst>
          </p:cNvPr>
          <p:cNvSpPr/>
          <p:nvPr/>
        </p:nvSpPr>
        <p:spPr>
          <a:xfrm>
            <a:off x="8046720" y="3657600"/>
            <a:ext cx="1645920" cy="1645920"/>
          </a:xfrm>
          <a:prstGeom prst="ellipse">
            <a:avLst/>
          </a:prstGeom>
          <a:solidFill>
            <a:srgbClr val="C9637A">
              <a:alpha val="16000"/>
            </a:srgbClr>
          </a:solidFill>
          <a:ln w="12700">
            <a:solidFill>
              <a:srgbClr val="C9637A">
                <a:alpha val="16000"/>
              </a:srgbClr>
            </a:solidFill>
            <a:prstDash val="solid"/>
          </a:ln>
        </p:spPr>
      </p:sp>
      <p:sp>
        <p:nvSpPr>
          <p:cNvPr id="3" name="Text 1">
            <a:extLst>
              <a:ext uri="{FF2B5EF4-FFF2-40B4-BE49-F238E27FC236}">
                <a16:creationId xmlns:a16="http://schemas.microsoft.com/office/drawing/2014/main" id="{221B18D3-A606-58FE-4E47-565B5B01BD9E}"/>
              </a:ext>
            </a:extLst>
          </p:cNvPr>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💡Screenshots &amp; Outputs</a:t>
            </a:r>
            <a:endParaRPr lang="en-US" sz="2800" dirty="0"/>
          </a:p>
        </p:txBody>
      </p:sp>
      <p:sp>
        <p:nvSpPr>
          <p:cNvPr id="4" name="Text 2">
            <a:extLst>
              <a:ext uri="{FF2B5EF4-FFF2-40B4-BE49-F238E27FC236}">
                <a16:creationId xmlns:a16="http://schemas.microsoft.com/office/drawing/2014/main" id="{4A55863C-5A4C-BACB-41FE-1E0B9A48077E}"/>
              </a:ext>
            </a:extLst>
          </p:cNvPr>
          <p:cNvSpPr/>
          <p:nvPr/>
        </p:nvSpPr>
        <p:spPr>
          <a:xfrm>
            <a:off x="457200" y="841248"/>
            <a:ext cx="8229600" cy="320040"/>
          </a:xfrm>
          <a:prstGeom prst="rect">
            <a:avLst/>
          </a:prstGeom>
          <a:noFill/>
          <a:ln/>
        </p:spPr>
        <p:txBody>
          <a:bodyPr wrap="square" lIns="0" tIns="0" rIns="0" bIns="0" rtlCol="0" anchor="ctr"/>
          <a:lstStyle/>
          <a:p>
            <a:pPr marL="0" indent="0">
              <a:buNone/>
            </a:pPr>
            <a:r>
              <a:rPr lang="en-US" sz="1300" dirty="0">
                <a:solidFill>
                  <a:srgbClr val="5A5278"/>
                </a:solidFill>
                <a:latin typeface="Calibri" pitchFamily="34" charset="0"/>
                <a:ea typeface="Calibri" pitchFamily="34" charset="-122"/>
                <a:cs typeface="Calibri" pitchFamily="34" charset="-120"/>
              </a:rPr>
              <a:t>See how the AI Finance Assistant responds in real conversation</a:t>
            </a:r>
            <a:endParaRPr lang="en-US" sz="1300" dirty="0"/>
          </a:p>
        </p:txBody>
      </p:sp>
      <p:sp>
        <p:nvSpPr>
          <p:cNvPr id="6" name="Text 4">
            <a:extLst>
              <a:ext uri="{FF2B5EF4-FFF2-40B4-BE49-F238E27FC236}">
                <a16:creationId xmlns:a16="http://schemas.microsoft.com/office/drawing/2014/main" id="{4B9E0D0A-D0DE-6620-E517-61593500BDB8}"/>
              </a:ext>
            </a:extLst>
          </p:cNvPr>
          <p:cNvSpPr/>
          <p:nvPr/>
        </p:nvSpPr>
        <p:spPr>
          <a:xfrm>
            <a:off x="594360" y="1389888"/>
            <a:ext cx="7955280" cy="594360"/>
          </a:xfrm>
          <a:prstGeom prst="rect">
            <a:avLst/>
          </a:prstGeom>
          <a:noFill/>
          <a:ln/>
        </p:spPr>
        <p:txBody>
          <a:bodyPr wrap="square" lIns="0" tIns="0" rIns="0" bIns="0" rtlCol="0" anchor="ctr"/>
          <a:lstStyle/>
          <a:p>
            <a:pPr marL="0" indent="0">
              <a:buNone/>
            </a:pPr>
            <a:endParaRPr lang="en-US" sz="1200" dirty="0"/>
          </a:p>
        </p:txBody>
      </p:sp>
      <p:sp>
        <p:nvSpPr>
          <p:cNvPr id="8" name="Text 6">
            <a:extLst>
              <a:ext uri="{FF2B5EF4-FFF2-40B4-BE49-F238E27FC236}">
                <a16:creationId xmlns:a16="http://schemas.microsoft.com/office/drawing/2014/main" id="{BCEE93DC-15A3-00AC-8663-9DC45231FF49}"/>
              </a:ext>
            </a:extLst>
          </p:cNvPr>
          <p:cNvSpPr/>
          <p:nvPr/>
        </p:nvSpPr>
        <p:spPr>
          <a:xfrm>
            <a:off x="594360" y="2304288"/>
            <a:ext cx="7955280" cy="594360"/>
          </a:xfrm>
          <a:prstGeom prst="rect">
            <a:avLst/>
          </a:prstGeom>
          <a:noFill/>
          <a:ln/>
        </p:spPr>
        <p:txBody>
          <a:bodyPr wrap="square" lIns="0" tIns="0" rIns="0" bIns="0" rtlCol="0" anchor="ctr"/>
          <a:lstStyle/>
          <a:p>
            <a:pPr marL="0" indent="0">
              <a:buNone/>
            </a:pPr>
            <a:endParaRPr lang="en-US" sz="1200" dirty="0"/>
          </a:p>
        </p:txBody>
      </p:sp>
      <p:sp>
        <p:nvSpPr>
          <p:cNvPr id="10" name="Text 8">
            <a:extLst>
              <a:ext uri="{FF2B5EF4-FFF2-40B4-BE49-F238E27FC236}">
                <a16:creationId xmlns:a16="http://schemas.microsoft.com/office/drawing/2014/main" id="{C169BF2C-BB7B-63CB-B262-0408ED1AD0FF}"/>
              </a:ext>
            </a:extLst>
          </p:cNvPr>
          <p:cNvSpPr/>
          <p:nvPr/>
        </p:nvSpPr>
        <p:spPr>
          <a:xfrm>
            <a:off x="594360" y="3218688"/>
            <a:ext cx="7955280" cy="594360"/>
          </a:xfrm>
          <a:prstGeom prst="rect">
            <a:avLst/>
          </a:prstGeom>
          <a:noFill/>
          <a:ln/>
        </p:spPr>
        <p:txBody>
          <a:bodyPr wrap="square" lIns="0" tIns="0" rIns="0" bIns="0" rtlCol="0" anchor="ctr"/>
          <a:lstStyle/>
          <a:p>
            <a:pPr marL="0" indent="0">
              <a:buNone/>
            </a:pPr>
            <a:endParaRPr lang="en-US" sz="1200" dirty="0"/>
          </a:p>
        </p:txBody>
      </p:sp>
      <p:sp>
        <p:nvSpPr>
          <p:cNvPr id="12" name="Text 10">
            <a:extLst>
              <a:ext uri="{FF2B5EF4-FFF2-40B4-BE49-F238E27FC236}">
                <a16:creationId xmlns:a16="http://schemas.microsoft.com/office/drawing/2014/main" id="{3917BA8F-AD73-F9D2-E477-BABD94A627E2}"/>
              </a:ext>
            </a:extLst>
          </p:cNvPr>
          <p:cNvSpPr/>
          <p:nvPr/>
        </p:nvSpPr>
        <p:spPr>
          <a:xfrm>
            <a:off x="594360" y="4133088"/>
            <a:ext cx="7955280" cy="594360"/>
          </a:xfrm>
          <a:prstGeom prst="rect">
            <a:avLst/>
          </a:prstGeom>
          <a:noFill/>
          <a:ln/>
        </p:spPr>
        <p:txBody>
          <a:bodyPr wrap="square" lIns="0" tIns="0" rIns="0" bIns="0" rtlCol="0" anchor="ctr"/>
          <a:lstStyle/>
          <a:p>
            <a:pPr marL="0" indent="0">
              <a:buNone/>
            </a:pPr>
            <a:endParaRPr lang="en-US" sz="1200" dirty="0"/>
          </a:p>
        </p:txBody>
      </p:sp>
      <p:pic>
        <p:nvPicPr>
          <p:cNvPr id="14" name="Picture 13">
            <a:extLst>
              <a:ext uri="{FF2B5EF4-FFF2-40B4-BE49-F238E27FC236}">
                <a16:creationId xmlns:a16="http://schemas.microsoft.com/office/drawing/2014/main" id="{7D429B4B-BFBF-A73C-C73C-81CF4CB8FD5C}"/>
              </a:ext>
            </a:extLst>
          </p:cNvPr>
          <p:cNvPicPr>
            <a:picLocks noChangeAspect="1"/>
          </p:cNvPicPr>
          <p:nvPr/>
        </p:nvPicPr>
        <p:blipFill>
          <a:blip r:embed="rId3"/>
          <a:stretch>
            <a:fillRect/>
          </a:stretch>
        </p:blipFill>
        <p:spPr>
          <a:xfrm>
            <a:off x="191673" y="1538652"/>
            <a:ext cx="3986432" cy="2434416"/>
          </a:xfrm>
          <a:prstGeom prst="rect">
            <a:avLst/>
          </a:prstGeom>
        </p:spPr>
      </p:pic>
      <p:pic>
        <p:nvPicPr>
          <p:cNvPr id="18" name="Picture 17">
            <a:extLst>
              <a:ext uri="{FF2B5EF4-FFF2-40B4-BE49-F238E27FC236}">
                <a16:creationId xmlns:a16="http://schemas.microsoft.com/office/drawing/2014/main" id="{EE3F9E85-095E-065B-2A48-C5E837A0D9FF}"/>
              </a:ext>
            </a:extLst>
          </p:cNvPr>
          <p:cNvPicPr>
            <a:picLocks noChangeAspect="1"/>
          </p:cNvPicPr>
          <p:nvPr/>
        </p:nvPicPr>
        <p:blipFill>
          <a:blip r:embed="rId4"/>
          <a:stretch>
            <a:fillRect/>
          </a:stretch>
        </p:blipFill>
        <p:spPr>
          <a:xfrm>
            <a:off x="5401994" y="241084"/>
            <a:ext cx="3467686" cy="2453056"/>
          </a:xfrm>
          <a:prstGeom prst="rect">
            <a:avLst/>
          </a:prstGeom>
        </p:spPr>
      </p:pic>
      <p:pic>
        <p:nvPicPr>
          <p:cNvPr id="20" name="Picture 19">
            <a:extLst>
              <a:ext uri="{FF2B5EF4-FFF2-40B4-BE49-F238E27FC236}">
                <a16:creationId xmlns:a16="http://schemas.microsoft.com/office/drawing/2014/main" id="{7B90688D-407C-667F-E9EE-87B9835E34F5}"/>
              </a:ext>
            </a:extLst>
          </p:cNvPr>
          <p:cNvPicPr>
            <a:picLocks noChangeAspect="1"/>
          </p:cNvPicPr>
          <p:nvPr/>
        </p:nvPicPr>
        <p:blipFill>
          <a:blip r:embed="rId5"/>
          <a:stretch>
            <a:fillRect/>
          </a:stretch>
        </p:blipFill>
        <p:spPr>
          <a:xfrm>
            <a:off x="4426050" y="2810199"/>
            <a:ext cx="3986432" cy="2273517"/>
          </a:xfrm>
          <a:prstGeom prst="rect">
            <a:avLst/>
          </a:prstGeom>
        </p:spPr>
      </p:pic>
    </p:spTree>
    <p:extLst>
      <p:ext uri="{BB962C8B-B14F-4D97-AF65-F5344CB8AC3E}">
        <p14:creationId xmlns:p14="http://schemas.microsoft.com/office/powerpoint/2010/main" val="4068277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E0F0"/>
        </a:solidFill>
        <a:effectLst/>
      </p:bgPr>
    </p:bg>
    <p:spTree>
      <p:nvGrpSpPr>
        <p:cNvPr id="1" name="">
          <a:extLst>
            <a:ext uri="{FF2B5EF4-FFF2-40B4-BE49-F238E27FC236}">
              <a16:creationId xmlns:a16="http://schemas.microsoft.com/office/drawing/2014/main" id="{69B8B401-A381-4EEC-A9F9-6F0196FE16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43D25E2-157B-5462-32B4-D89DF490FEA5}"/>
              </a:ext>
            </a:extLst>
          </p:cNvPr>
          <p:cNvSpPr/>
          <p:nvPr/>
        </p:nvSpPr>
        <p:spPr>
          <a:xfrm>
            <a:off x="-457200" y="-457200"/>
            <a:ext cx="1828800" cy="1828800"/>
          </a:xfrm>
          <a:prstGeom prst="ellipse">
            <a:avLst/>
          </a:prstGeom>
          <a:solidFill>
            <a:srgbClr val="3A9E8D">
              <a:alpha val="16000"/>
            </a:srgbClr>
          </a:solidFill>
          <a:ln w="12700">
            <a:solidFill>
              <a:srgbClr val="3A9E8D">
                <a:alpha val="16000"/>
              </a:srgbClr>
            </a:solidFill>
            <a:prstDash val="solid"/>
          </a:ln>
        </p:spPr>
      </p:sp>
      <p:sp>
        <p:nvSpPr>
          <p:cNvPr id="3" name="Text 1">
            <a:extLst>
              <a:ext uri="{FF2B5EF4-FFF2-40B4-BE49-F238E27FC236}">
                <a16:creationId xmlns:a16="http://schemas.microsoft.com/office/drawing/2014/main" id="{FC398EAB-85AB-808E-D305-59F435828B58}"/>
              </a:ext>
            </a:extLst>
          </p:cNvPr>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3D3455"/>
                </a:solidFill>
                <a:latin typeface="Georgia" pitchFamily="34" charset="0"/>
                <a:ea typeface="Georgia" pitchFamily="34" charset="-122"/>
                <a:cs typeface="Georgia" pitchFamily="34" charset="-120"/>
              </a:rPr>
              <a:t>⭐  Key Features</a:t>
            </a:r>
            <a:endParaRPr lang="en-US" sz="2800" dirty="0"/>
          </a:p>
        </p:txBody>
      </p:sp>
      <p:sp>
        <p:nvSpPr>
          <p:cNvPr id="4" name="Shape 2">
            <a:extLst>
              <a:ext uri="{FF2B5EF4-FFF2-40B4-BE49-F238E27FC236}">
                <a16:creationId xmlns:a16="http://schemas.microsoft.com/office/drawing/2014/main" id="{3B1400AF-69E1-AD5B-A089-33EEC19ECD5E}"/>
              </a:ext>
            </a:extLst>
          </p:cNvPr>
          <p:cNvSpPr/>
          <p:nvPr/>
        </p:nvSpPr>
        <p:spPr>
          <a:xfrm>
            <a:off x="411480" y="1280160"/>
            <a:ext cx="2651760" cy="1572768"/>
          </a:xfrm>
          <a:prstGeom prst="roundRect">
            <a:avLst>
              <a:gd name="adj" fmla="val 6977"/>
            </a:avLst>
          </a:prstGeom>
          <a:solidFill>
            <a:srgbClr val="FDEEF4"/>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5" name="Text 3">
            <a:extLst>
              <a:ext uri="{FF2B5EF4-FFF2-40B4-BE49-F238E27FC236}">
                <a16:creationId xmlns:a16="http://schemas.microsoft.com/office/drawing/2014/main" id="{D8914E8E-C601-E7F3-6AFD-5D083268F252}"/>
              </a:ext>
            </a:extLst>
          </p:cNvPr>
          <p:cNvSpPr/>
          <p:nvPr/>
        </p:nvSpPr>
        <p:spPr>
          <a:xfrm>
            <a:off x="521208" y="1389888"/>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AI-Powered</a:t>
            </a:r>
            <a:endParaRPr lang="en-US" sz="1300" dirty="0"/>
          </a:p>
        </p:txBody>
      </p:sp>
      <p:sp>
        <p:nvSpPr>
          <p:cNvPr id="6" name="Text 4">
            <a:extLst>
              <a:ext uri="{FF2B5EF4-FFF2-40B4-BE49-F238E27FC236}">
                <a16:creationId xmlns:a16="http://schemas.microsoft.com/office/drawing/2014/main" id="{9787F66D-2DE3-AF54-9378-3C131998A0F1}"/>
              </a:ext>
            </a:extLst>
          </p:cNvPr>
          <p:cNvSpPr/>
          <p:nvPr/>
        </p:nvSpPr>
        <p:spPr>
          <a:xfrm>
            <a:off x="521208" y="1828800"/>
            <a:ext cx="2432304" cy="777240"/>
          </a:xfrm>
          <a:prstGeom prst="rect">
            <a:avLst/>
          </a:prstGeom>
          <a:noFill/>
          <a:ln/>
        </p:spPr>
        <p:txBody>
          <a:bodyPr wrap="square" lIns="0" tIns="0" rIns="0" bIns="0" rtlCol="0" anchor="ctr"/>
          <a:lstStyle/>
          <a:p>
            <a:pPr marL="0" indent="0">
              <a:buNone/>
            </a:pPr>
            <a:r>
              <a:rPr lang="en-US" sz="1100" dirty="0">
                <a:solidFill>
                  <a:srgbClr val="6B6380"/>
                </a:solidFill>
                <a:latin typeface="Calibri" pitchFamily="34" charset="0"/>
                <a:ea typeface="Calibri" pitchFamily="34" charset="-122"/>
                <a:cs typeface="Calibri" pitchFamily="34" charset="-120"/>
              </a:rPr>
              <a:t>Smart responses and real-time calculations driven by intelligent logic</a:t>
            </a:r>
            <a:endParaRPr lang="en-US" sz="1100" dirty="0"/>
          </a:p>
        </p:txBody>
      </p:sp>
      <p:sp>
        <p:nvSpPr>
          <p:cNvPr id="7" name="Shape 5">
            <a:extLst>
              <a:ext uri="{FF2B5EF4-FFF2-40B4-BE49-F238E27FC236}">
                <a16:creationId xmlns:a16="http://schemas.microsoft.com/office/drawing/2014/main" id="{C74581E6-BCEB-7117-C1D2-BF2AE34BDFB8}"/>
              </a:ext>
            </a:extLst>
          </p:cNvPr>
          <p:cNvSpPr/>
          <p:nvPr/>
        </p:nvSpPr>
        <p:spPr>
          <a:xfrm>
            <a:off x="3246120" y="1280160"/>
            <a:ext cx="2651760" cy="1572768"/>
          </a:xfrm>
          <a:prstGeom prst="roundRect">
            <a:avLst>
              <a:gd name="adj" fmla="val 6977"/>
            </a:avLst>
          </a:prstGeom>
          <a:solidFill>
            <a:srgbClr val="E3F5F0"/>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8" name="Text 6">
            <a:extLst>
              <a:ext uri="{FF2B5EF4-FFF2-40B4-BE49-F238E27FC236}">
                <a16:creationId xmlns:a16="http://schemas.microsoft.com/office/drawing/2014/main" id="{86A1AE45-93C7-040A-744F-5CA1AECCE752}"/>
              </a:ext>
            </a:extLst>
          </p:cNvPr>
          <p:cNvSpPr/>
          <p:nvPr/>
        </p:nvSpPr>
        <p:spPr>
          <a:xfrm>
            <a:off x="3355848" y="1389888"/>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Conversational UI</a:t>
            </a:r>
            <a:endParaRPr lang="en-US" sz="1300" dirty="0"/>
          </a:p>
        </p:txBody>
      </p:sp>
      <p:sp>
        <p:nvSpPr>
          <p:cNvPr id="9" name="Text 7">
            <a:extLst>
              <a:ext uri="{FF2B5EF4-FFF2-40B4-BE49-F238E27FC236}">
                <a16:creationId xmlns:a16="http://schemas.microsoft.com/office/drawing/2014/main" id="{01728A34-269D-EBBE-B596-DD295B0820F7}"/>
              </a:ext>
            </a:extLst>
          </p:cNvPr>
          <p:cNvSpPr/>
          <p:nvPr/>
        </p:nvSpPr>
        <p:spPr>
          <a:xfrm>
            <a:off x="3355848" y="1828800"/>
            <a:ext cx="2432304" cy="777240"/>
          </a:xfrm>
          <a:prstGeom prst="rect">
            <a:avLst/>
          </a:prstGeom>
          <a:noFill/>
          <a:ln/>
        </p:spPr>
        <p:txBody>
          <a:bodyPr wrap="square" lIns="0" tIns="0" rIns="0" bIns="0" rtlCol="0" anchor="ctr"/>
          <a:lstStyle/>
          <a:p>
            <a:pPr marL="0" indent="0">
              <a:buNone/>
            </a:pPr>
            <a:r>
              <a:rPr lang="en-US" sz="1100" dirty="0">
                <a:solidFill>
                  <a:srgbClr val="6B6380"/>
                </a:solidFill>
                <a:latin typeface="Calibri" pitchFamily="34" charset="0"/>
                <a:ea typeface="Calibri" pitchFamily="34" charset="-122"/>
                <a:cs typeface="Calibri" pitchFamily="34" charset="-120"/>
              </a:rPr>
              <a:t>Chat naturally — no forms, no complex menus, just plain language</a:t>
            </a:r>
            <a:endParaRPr lang="en-US" sz="1100" dirty="0"/>
          </a:p>
        </p:txBody>
      </p:sp>
      <p:sp>
        <p:nvSpPr>
          <p:cNvPr id="10" name="Shape 8">
            <a:extLst>
              <a:ext uri="{FF2B5EF4-FFF2-40B4-BE49-F238E27FC236}">
                <a16:creationId xmlns:a16="http://schemas.microsoft.com/office/drawing/2014/main" id="{8247EC74-C01E-4AB6-C3E2-506E91984A18}"/>
              </a:ext>
            </a:extLst>
          </p:cNvPr>
          <p:cNvSpPr/>
          <p:nvPr/>
        </p:nvSpPr>
        <p:spPr>
          <a:xfrm>
            <a:off x="6080760" y="1280160"/>
            <a:ext cx="2651760" cy="1572768"/>
          </a:xfrm>
          <a:prstGeom prst="roundRect">
            <a:avLst>
              <a:gd name="adj" fmla="val 6977"/>
            </a:avLst>
          </a:prstGeom>
          <a:solidFill>
            <a:srgbClr val="E3EEF8"/>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11" name="Text 9">
            <a:extLst>
              <a:ext uri="{FF2B5EF4-FFF2-40B4-BE49-F238E27FC236}">
                <a16:creationId xmlns:a16="http://schemas.microsoft.com/office/drawing/2014/main" id="{CF0CF665-E02E-6A5D-A703-36957C61D77B}"/>
              </a:ext>
            </a:extLst>
          </p:cNvPr>
          <p:cNvSpPr/>
          <p:nvPr/>
        </p:nvSpPr>
        <p:spPr>
          <a:xfrm>
            <a:off x="6190488" y="1389888"/>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Input Validation</a:t>
            </a:r>
            <a:endParaRPr lang="en-US" sz="1300" dirty="0"/>
          </a:p>
        </p:txBody>
      </p:sp>
      <p:sp>
        <p:nvSpPr>
          <p:cNvPr id="12" name="Text 10">
            <a:extLst>
              <a:ext uri="{FF2B5EF4-FFF2-40B4-BE49-F238E27FC236}">
                <a16:creationId xmlns:a16="http://schemas.microsoft.com/office/drawing/2014/main" id="{0339BDFE-4606-085D-3C08-210D91590D46}"/>
              </a:ext>
            </a:extLst>
          </p:cNvPr>
          <p:cNvSpPr/>
          <p:nvPr/>
        </p:nvSpPr>
        <p:spPr>
          <a:xfrm>
            <a:off x="6190488" y="1828800"/>
            <a:ext cx="2432304" cy="777240"/>
          </a:xfrm>
          <a:prstGeom prst="rect">
            <a:avLst/>
          </a:prstGeom>
          <a:noFill/>
          <a:ln/>
        </p:spPr>
        <p:txBody>
          <a:bodyPr wrap="square" lIns="0" tIns="0" rIns="0" bIns="0" rtlCol="0" anchor="ctr"/>
          <a:lstStyle/>
          <a:p>
            <a:pPr marL="0" indent="0">
              <a:buNone/>
            </a:pPr>
            <a:r>
              <a:rPr lang="en-US" sz="1100" dirty="0">
                <a:solidFill>
                  <a:srgbClr val="6B6380"/>
                </a:solidFill>
                <a:latin typeface="Calibri" pitchFamily="34" charset="0"/>
                <a:ea typeface="Calibri" pitchFamily="34" charset="-122"/>
                <a:cs typeface="Calibri" pitchFamily="34" charset="-120"/>
              </a:rPr>
              <a:t>Handles missing or incorrect inputs gracefully with helpful prompts</a:t>
            </a:r>
            <a:endParaRPr lang="en-US" sz="1100" dirty="0"/>
          </a:p>
        </p:txBody>
      </p:sp>
      <p:sp>
        <p:nvSpPr>
          <p:cNvPr id="13" name="Shape 11">
            <a:extLst>
              <a:ext uri="{FF2B5EF4-FFF2-40B4-BE49-F238E27FC236}">
                <a16:creationId xmlns:a16="http://schemas.microsoft.com/office/drawing/2014/main" id="{75B0E245-47E2-2F0C-C036-3F37E1199551}"/>
              </a:ext>
            </a:extLst>
          </p:cNvPr>
          <p:cNvSpPr/>
          <p:nvPr/>
        </p:nvSpPr>
        <p:spPr>
          <a:xfrm>
            <a:off x="411480" y="3063240"/>
            <a:ext cx="2651760" cy="1572768"/>
          </a:xfrm>
          <a:prstGeom prst="roundRect">
            <a:avLst>
              <a:gd name="adj" fmla="val 6977"/>
            </a:avLst>
          </a:prstGeom>
          <a:solidFill>
            <a:srgbClr val="EDE8F7"/>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14" name="Text 12">
            <a:extLst>
              <a:ext uri="{FF2B5EF4-FFF2-40B4-BE49-F238E27FC236}">
                <a16:creationId xmlns:a16="http://schemas.microsoft.com/office/drawing/2014/main" id="{F2BF8248-7779-B1E1-5A42-34F524EBA9B0}"/>
              </a:ext>
            </a:extLst>
          </p:cNvPr>
          <p:cNvSpPr/>
          <p:nvPr/>
        </p:nvSpPr>
        <p:spPr>
          <a:xfrm>
            <a:off x="521208" y="3172968"/>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Private &amp; Safe</a:t>
            </a:r>
            <a:endParaRPr lang="en-US" sz="1300" dirty="0"/>
          </a:p>
        </p:txBody>
      </p:sp>
      <p:sp>
        <p:nvSpPr>
          <p:cNvPr id="15" name="Text 13">
            <a:extLst>
              <a:ext uri="{FF2B5EF4-FFF2-40B4-BE49-F238E27FC236}">
                <a16:creationId xmlns:a16="http://schemas.microsoft.com/office/drawing/2014/main" id="{DA2F577B-360D-D6CC-A232-1A7BC48D461F}"/>
              </a:ext>
            </a:extLst>
          </p:cNvPr>
          <p:cNvSpPr/>
          <p:nvPr/>
        </p:nvSpPr>
        <p:spPr>
          <a:xfrm>
            <a:off x="521208" y="3611880"/>
            <a:ext cx="2432304" cy="777240"/>
          </a:xfrm>
          <a:prstGeom prst="rect">
            <a:avLst/>
          </a:prstGeom>
          <a:noFill/>
          <a:ln/>
        </p:spPr>
        <p:txBody>
          <a:bodyPr wrap="square" lIns="0" tIns="0" rIns="0" bIns="0" rtlCol="0" anchor="ctr"/>
          <a:lstStyle/>
          <a:p>
            <a:pPr marL="0" indent="0">
              <a:buNone/>
            </a:pPr>
            <a:r>
              <a:rPr lang="en-US" sz="1100" dirty="0">
                <a:solidFill>
                  <a:srgbClr val="6B6380"/>
                </a:solidFill>
                <a:latin typeface="Calibri" pitchFamily="34" charset="0"/>
                <a:ea typeface="Calibri" pitchFamily="34" charset="-122"/>
                <a:cs typeface="Calibri" pitchFamily="34" charset="-120"/>
              </a:rPr>
              <a:t>No financial data stored — your information stays with you</a:t>
            </a:r>
            <a:endParaRPr lang="en-US" sz="1100" dirty="0"/>
          </a:p>
        </p:txBody>
      </p:sp>
      <p:sp>
        <p:nvSpPr>
          <p:cNvPr id="16" name="Shape 14">
            <a:extLst>
              <a:ext uri="{FF2B5EF4-FFF2-40B4-BE49-F238E27FC236}">
                <a16:creationId xmlns:a16="http://schemas.microsoft.com/office/drawing/2014/main" id="{E6FDB696-B729-A3ED-3340-F2D60EC975D8}"/>
              </a:ext>
            </a:extLst>
          </p:cNvPr>
          <p:cNvSpPr/>
          <p:nvPr/>
        </p:nvSpPr>
        <p:spPr>
          <a:xfrm>
            <a:off x="3246120" y="3063240"/>
            <a:ext cx="2651760" cy="1572768"/>
          </a:xfrm>
          <a:prstGeom prst="roundRect">
            <a:avLst>
              <a:gd name="adj" fmla="val 6977"/>
            </a:avLst>
          </a:prstGeom>
          <a:solidFill>
            <a:srgbClr val="FEF0E7"/>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17" name="Text 15">
            <a:extLst>
              <a:ext uri="{FF2B5EF4-FFF2-40B4-BE49-F238E27FC236}">
                <a16:creationId xmlns:a16="http://schemas.microsoft.com/office/drawing/2014/main" id="{09D2FF46-4DFF-5D17-C6A9-1AD889CA8CFF}"/>
              </a:ext>
            </a:extLst>
          </p:cNvPr>
          <p:cNvSpPr/>
          <p:nvPr/>
        </p:nvSpPr>
        <p:spPr>
          <a:xfrm>
            <a:off x="3355848" y="3172968"/>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Detailed Output</a:t>
            </a:r>
            <a:endParaRPr lang="en-US" sz="1300" dirty="0"/>
          </a:p>
        </p:txBody>
      </p:sp>
      <p:sp>
        <p:nvSpPr>
          <p:cNvPr id="18" name="Text 16">
            <a:extLst>
              <a:ext uri="{FF2B5EF4-FFF2-40B4-BE49-F238E27FC236}">
                <a16:creationId xmlns:a16="http://schemas.microsoft.com/office/drawing/2014/main" id="{57CCD885-D696-7DE8-C701-E8C4E614767E}"/>
              </a:ext>
            </a:extLst>
          </p:cNvPr>
          <p:cNvSpPr/>
          <p:nvPr/>
        </p:nvSpPr>
        <p:spPr>
          <a:xfrm>
            <a:off x="3355848" y="3611880"/>
            <a:ext cx="2432304" cy="777240"/>
          </a:xfrm>
          <a:prstGeom prst="rect">
            <a:avLst/>
          </a:prstGeom>
          <a:noFill/>
          <a:ln/>
        </p:spPr>
        <p:txBody>
          <a:bodyPr wrap="square" lIns="0" tIns="0" rIns="0" bIns="0" rtlCol="0" anchor="ctr"/>
          <a:lstStyle/>
          <a:p>
            <a:pPr marL="0" indent="0">
              <a:buNone/>
            </a:pPr>
            <a:r>
              <a:rPr lang="en-US" sz="1100" dirty="0">
                <a:solidFill>
                  <a:srgbClr val="6B6380"/>
                </a:solidFill>
                <a:latin typeface="Calibri" pitchFamily="34" charset="0"/>
                <a:ea typeface="Calibri" pitchFamily="34" charset="-122"/>
                <a:cs typeface="Calibri" pitchFamily="34" charset="-120"/>
              </a:rPr>
              <a:t>Get EMI, total interest, and payment breakdown in one response</a:t>
            </a:r>
            <a:endParaRPr lang="en-US" sz="1100" dirty="0"/>
          </a:p>
        </p:txBody>
      </p:sp>
      <p:sp>
        <p:nvSpPr>
          <p:cNvPr id="19" name="Shape 17">
            <a:extLst>
              <a:ext uri="{FF2B5EF4-FFF2-40B4-BE49-F238E27FC236}">
                <a16:creationId xmlns:a16="http://schemas.microsoft.com/office/drawing/2014/main" id="{1E3095BC-2BBC-60D2-ED82-11D3B838C86F}"/>
              </a:ext>
            </a:extLst>
          </p:cNvPr>
          <p:cNvSpPr/>
          <p:nvPr/>
        </p:nvSpPr>
        <p:spPr>
          <a:xfrm>
            <a:off x="6080760" y="3063240"/>
            <a:ext cx="2651760" cy="1572768"/>
          </a:xfrm>
          <a:prstGeom prst="roundRect">
            <a:avLst>
              <a:gd name="adj" fmla="val 6977"/>
            </a:avLst>
          </a:prstGeom>
          <a:solidFill>
            <a:srgbClr val="FDEEF4"/>
          </a:solidFill>
          <a:ln w="12700">
            <a:solidFill>
              <a:srgbClr val="7C5CBF">
                <a:alpha val="24000"/>
              </a:srgbClr>
            </a:solidFill>
            <a:prstDash val="solid"/>
          </a:ln>
          <a:effectLst>
            <a:outerShdw blurRad="101600" dist="25400" dir="8100000" algn="bl" rotWithShape="0">
              <a:srgbClr val="9B8FBB">
                <a:alpha val="13000"/>
              </a:srgbClr>
            </a:outerShdw>
          </a:effectLst>
        </p:spPr>
      </p:sp>
      <p:sp>
        <p:nvSpPr>
          <p:cNvPr id="20" name="Text 18">
            <a:extLst>
              <a:ext uri="{FF2B5EF4-FFF2-40B4-BE49-F238E27FC236}">
                <a16:creationId xmlns:a16="http://schemas.microsoft.com/office/drawing/2014/main" id="{9DE0D638-9B0F-7E31-3A86-985E9F0E3448}"/>
              </a:ext>
            </a:extLst>
          </p:cNvPr>
          <p:cNvSpPr/>
          <p:nvPr/>
        </p:nvSpPr>
        <p:spPr>
          <a:xfrm>
            <a:off x="6190488" y="3172968"/>
            <a:ext cx="2432304" cy="384048"/>
          </a:xfrm>
          <a:prstGeom prst="rect">
            <a:avLst/>
          </a:prstGeom>
          <a:noFill/>
          <a:ln/>
        </p:spPr>
        <p:txBody>
          <a:bodyPr wrap="square" lIns="0" tIns="0" rIns="0" bIns="0" rtlCol="0" anchor="ctr"/>
          <a:lstStyle/>
          <a:p>
            <a:pPr marL="0" indent="0">
              <a:buNone/>
            </a:pPr>
            <a:r>
              <a:rPr lang="en-US" sz="1300" b="1" dirty="0">
                <a:solidFill>
                  <a:srgbClr val="3D3455"/>
                </a:solidFill>
                <a:latin typeface="Calibri" pitchFamily="34" charset="0"/>
                <a:ea typeface="Calibri" pitchFamily="34" charset="-122"/>
                <a:cs typeface="Calibri" pitchFamily="34" charset="-120"/>
              </a:rPr>
              <a:t>⚡  Instant Results</a:t>
            </a:r>
            <a:endParaRPr lang="en-US" sz="1300" dirty="0"/>
          </a:p>
        </p:txBody>
      </p:sp>
      <p:sp>
        <p:nvSpPr>
          <p:cNvPr id="21" name="Text 19">
            <a:extLst>
              <a:ext uri="{FF2B5EF4-FFF2-40B4-BE49-F238E27FC236}">
                <a16:creationId xmlns:a16="http://schemas.microsoft.com/office/drawing/2014/main" id="{F8A1EF5A-D7E1-EB9D-E8D2-0864EC988170}"/>
              </a:ext>
            </a:extLst>
          </p:cNvPr>
          <p:cNvSpPr/>
          <p:nvPr/>
        </p:nvSpPr>
        <p:spPr>
          <a:xfrm>
            <a:off x="6190488" y="3611880"/>
            <a:ext cx="2432304" cy="777240"/>
          </a:xfrm>
          <a:prstGeom prst="rect">
            <a:avLst/>
          </a:prstGeom>
          <a:noFill/>
          <a:ln/>
        </p:spPr>
        <p:txBody>
          <a:bodyPr wrap="square" lIns="0" tIns="0" rIns="0" bIns="0" rtlCol="0" anchor="ctr"/>
          <a:lstStyle/>
          <a:p>
            <a:pPr marL="0" indent="0">
              <a:buNone/>
            </a:pPr>
            <a:r>
              <a:rPr lang="en-US" sz="1100" dirty="0">
                <a:solidFill>
                  <a:srgbClr val="6B6380"/>
                </a:solidFill>
                <a:latin typeface="Calibri" pitchFamily="34" charset="0"/>
                <a:ea typeface="Calibri" pitchFamily="34" charset="-122"/>
                <a:cs typeface="Calibri" pitchFamily="34" charset="-120"/>
              </a:rPr>
              <a:t>Receive answers in seconds — available 24×7, whenever you need</a:t>
            </a:r>
            <a:endParaRPr lang="en-US" sz="1100" dirty="0"/>
          </a:p>
        </p:txBody>
      </p:sp>
    </p:spTree>
    <p:extLst>
      <p:ext uri="{BB962C8B-B14F-4D97-AF65-F5344CB8AC3E}">
        <p14:creationId xmlns:p14="http://schemas.microsoft.com/office/powerpoint/2010/main" val="2483987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E8E0F0"/>
        </a:solidFill>
        <a:effectLst/>
      </p:bgPr>
    </p:bg>
    <p:spTree>
      <p:nvGrpSpPr>
        <p:cNvPr id="1" name=""/>
        <p:cNvGrpSpPr/>
        <p:nvPr/>
      </p:nvGrpSpPr>
      <p:grpSpPr>
        <a:xfrm>
          <a:off x="0" y="0"/>
          <a:ext cx="0" cy="0"/>
          <a:chOff x="0" y="0"/>
          <a:chExt cx="0" cy="0"/>
        </a:xfrm>
      </p:grpSpPr>
      <p:sp>
        <p:nvSpPr>
          <p:cNvPr id="2" name="Shape 0"/>
          <p:cNvSpPr/>
          <p:nvPr/>
        </p:nvSpPr>
        <p:spPr>
          <a:xfrm>
            <a:off x="-1097280" y="-1097280"/>
            <a:ext cx="3657600" cy="3657600"/>
          </a:xfrm>
          <a:prstGeom prst="ellipse">
            <a:avLst/>
          </a:prstGeom>
          <a:solidFill>
            <a:srgbClr val="7C5CBF">
              <a:alpha val="18000"/>
            </a:srgbClr>
          </a:solidFill>
          <a:ln w="12700">
            <a:solidFill>
              <a:srgbClr val="7C5CBF">
                <a:alpha val="18000"/>
              </a:srgbClr>
            </a:solidFill>
            <a:prstDash val="solid"/>
          </a:ln>
        </p:spPr>
      </p:sp>
      <p:sp>
        <p:nvSpPr>
          <p:cNvPr id="3" name="Shape 1"/>
          <p:cNvSpPr/>
          <p:nvPr/>
        </p:nvSpPr>
        <p:spPr>
          <a:xfrm>
            <a:off x="6858000" y="2926080"/>
            <a:ext cx="3200400" cy="3200400"/>
          </a:xfrm>
          <a:prstGeom prst="ellipse">
            <a:avLst/>
          </a:prstGeom>
          <a:solidFill>
            <a:srgbClr val="3A9E8D">
              <a:alpha val="18000"/>
            </a:srgbClr>
          </a:solidFill>
          <a:ln w="12700">
            <a:solidFill>
              <a:srgbClr val="3A9E8D">
                <a:alpha val="18000"/>
              </a:srgbClr>
            </a:solidFill>
            <a:prstDash val="solid"/>
          </a:ln>
        </p:spPr>
      </p:sp>
      <p:sp>
        <p:nvSpPr>
          <p:cNvPr id="4" name="Shape 2"/>
          <p:cNvSpPr/>
          <p:nvPr/>
        </p:nvSpPr>
        <p:spPr>
          <a:xfrm>
            <a:off x="7368480" y="-466344"/>
            <a:ext cx="2011680" cy="2011680"/>
          </a:xfrm>
          <a:prstGeom prst="ellipse">
            <a:avLst/>
          </a:prstGeom>
          <a:solidFill>
            <a:srgbClr val="C9637A">
              <a:alpha val="16000"/>
            </a:srgbClr>
          </a:solidFill>
          <a:ln w="12700">
            <a:solidFill>
              <a:srgbClr val="C9637A">
                <a:alpha val="16000"/>
              </a:srgbClr>
            </a:solidFill>
            <a:prstDash val="solid"/>
          </a:ln>
        </p:spPr>
      </p:sp>
      <p:sp>
        <p:nvSpPr>
          <p:cNvPr id="6" name="Text 4"/>
          <p:cNvSpPr/>
          <p:nvPr/>
        </p:nvSpPr>
        <p:spPr>
          <a:xfrm>
            <a:off x="1371600" y="548640"/>
            <a:ext cx="6400800" cy="640080"/>
          </a:xfrm>
          <a:prstGeom prst="rect">
            <a:avLst/>
          </a:prstGeom>
          <a:noFill/>
          <a:ln/>
        </p:spPr>
        <p:txBody>
          <a:bodyPr wrap="square" lIns="0" tIns="0" rIns="0" bIns="0" rtlCol="0" anchor="ctr"/>
          <a:lstStyle/>
          <a:p>
            <a:pPr marL="0" indent="0" algn="ctr">
              <a:buNone/>
            </a:pPr>
            <a:r>
              <a:rPr lang="en-US" sz="3000" b="1" dirty="0"/>
              <a:t>GitHub Repository</a:t>
            </a:r>
          </a:p>
        </p:txBody>
      </p:sp>
      <p:sp>
        <p:nvSpPr>
          <p:cNvPr id="7" name="Text 5"/>
          <p:cNvSpPr/>
          <p:nvPr/>
        </p:nvSpPr>
        <p:spPr>
          <a:xfrm>
            <a:off x="1463040" y="1600200"/>
            <a:ext cx="6217920" cy="822960"/>
          </a:xfrm>
          <a:prstGeom prst="rect">
            <a:avLst/>
          </a:prstGeom>
          <a:noFill/>
          <a:ln/>
        </p:spPr>
        <p:txBody>
          <a:bodyPr wrap="square" lIns="0" tIns="0" rIns="0" bIns="0" rtlCol="0" anchor="ctr"/>
          <a:lstStyle/>
          <a:p>
            <a:pPr marL="0" indent="0" algn="ctr">
              <a:buNone/>
            </a:pPr>
            <a:endParaRPr lang="en-US" sz="4200" dirty="0"/>
          </a:p>
        </p:txBody>
      </p:sp>
      <p:sp>
        <p:nvSpPr>
          <p:cNvPr id="8" name="Text 6"/>
          <p:cNvSpPr/>
          <p:nvPr/>
        </p:nvSpPr>
        <p:spPr>
          <a:xfrm>
            <a:off x="1463040" y="2487168"/>
            <a:ext cx="6217920" cy="384048"/>
          </a:xfrm>
          <a:prstGeom prst="rect">
            <a:avLst/>
          </a:prstGeom>
          <a:noFill/>
          <a:ln/>
        </p:spPr>
        <p:txBody>
          <a:bodyPr wrap="square" lIns="0" tIns="0" rIns="0" bIns="0" rtlCol="0" anchor="ctr"/>
          <a:lstStyle/>
          <a:p>
            <a:pPr marL="0" indent="0" algn="ctr">
              <a:buNone/>
            </a:pPr>
            <a:endParaRPr lang="en-US" sz="1500" dirty="0"/>
          </a:p>
        </p:txBody>
      </p:sp>
      <p:sp>
        <p:nvSpPr>
          <p:cNvPr id="9" name="Text 7"/>
          <p:cNvSpPr/>
          <p:nvPr/>
        </p:nvSpPr>
        <p:spPr>
          <a:xfrm>
            <a:off x="1463040" y="2944368"/>
            <a:ext cx="6217920" cy="347472"/>
          </a:xfrm>
          <a:prstGeom prst="rect">
            <a:avLst/>
          </a:prstGeom>
          <a:noFill/>
          <a:ln/>
        </p:spPr>
        <p:txBody>
          <a:bodyPr wrap="square" lIns="0" tIns="0" rIns="0" bIns="0" rtlCol="0" anchor="ctr"/>
          <a:lstStyle/>
          <a:p>
            <a:pPr marL="0" indent="0" algn="ctr">
              <a:buNone/>
            </a:pPr>
            <a:endParaRPr lang="en-US" sz="1300" dirty="0"/>
          </a:p>
        </p:txBody>
      </p:sp>
      <p:sp>
        <p:nvSpPr>
          <p:cNvPr id="10" name="Text 8"/>
          <p:cNvSpPr/>
          <p:nvPr/>
        </p:nvSpPr>
        <p:spPr>
          <a:xfrm>
            <a:off x="0" y="4754880"/>
            <a:ext cx="9144000" cy="274320"/>
          </a:xfrm>
          <a:prstGeom prst="rect">
            <a:avLst/>
          </a:prstGeom>
          <a:noFill/>
          <a:ln/>
        </p:spPr>
        <p:txBody>
          <a:bodyPr wrap="square" lIns="0" tIns="0" rIns="0" bIns="0" rtlCol="0" anchor="ctr"/>
          <a:lstStyle/>
          <a:p>
            <a:pPr marL="0" indent="0" algn="ctr">
              <a:buNone/>
            </a:pPr>
            <a:r>
              <a:rPr lang="en-US" sz="1000" dirty="0">
                <a:solidFill>
                  <a:srgbClr val="6B6380"/>
                </a:solidFill>
                <a:latin typeface="Calibri" pitchFamily="34" charset="0"/>
                <a:ea typeface="Calibri" pitchFamily="34" charset="-122"/>
                <a:cs typeface="Calibri" pitchFamily="34" charset="-120"/>
              </a:rPr>
              <a:t>AI Finance Assistant  •  Simple · Accurate · User-Friendly</a:t>
            </a:r>
            <a:endParaRPr lang="en-US" sz="1000" dirty="0"/>
          </a:p>
        </p:txBody>
      </p:sp>
      <p:sp>
        <p:nvSpPr>
          <p:cNvPr id="11" name="Rectangle 1">
            <a:extLst>
              <a:ext uri="{FF2B5EF4-FFF2-40B4-BE49-F238E27FC236}">
                <a16:creationId xmlns:a16="http://schemas.microsoft.com/office/drawing/2014/main" id="{62E336BA-5C3C-FD22-D053-B4AEE729F449}"/>
              </a:ext>
            </a:extLst>
          </p:cNvPr>
          <p:cNvSpPr>
            <a:spLocks noChangeArrowheads="1"/>
          </p:cNvSpPr>
          <p:nvPr/>
        </p:nvSpPr>
        <p:spPr bwMode="auto">
          <a:xfrm>
            <a:off x="316800" y="1481328"/>
            <a:ext cx="7772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Access the complete project code and resources for the AI-Powered Finance Assistant. The repository includes all </a:t>
            </a:r>
            <a:r>
              <a:rPr kumimoji="0" lang="en-US" altLang="en-US" sz="1600" b="0" i="0" u="none" strike="noStrike" cap="none" normalizeH="0" baseline="0" dirty="0" err="1">
                <a:ln>
                  <a:noFill/>
                </a:ln>
                <a:solidFill>
                  <a:srgbClr val="000000"/>
                </a:solidFill>
                <a:effectLst/>
                <a:latin typeface="Arial" panose="020B0604020202020204" pitchFamily="34" charset="0"/>
              </a:rPr>
              <a:t>Dialogflow</a:t>
            </a:r>
            <a:r>
              <a:rPr kumimoji="0" lang="en-US" altLang="en-US" sz="1600" b="0" i="0" u="none" strike="noStrike" cap="none" normalizeH="0" baseline="0" dirty="0">
                <a:ln>
                  <a:noFill/>
                </a:ln>
                <a:solidFill>
                  <a:srgbClr val="000000"/>
                </a:solidFill>
                <a:effectLst/>
                <a:latin typeface="Arial" panose="020B0604020202020204" pitchFamily="34" charset="0"/>
              </a:rPr>
              <a:t> export files, configuration settings, and sample datasets used for training the chatbot intents.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000000"/>
                </a:solidFill>
                <a:latin typeface="Arial" panose="020B0604020202020204" pitchFamily="34" charset="0"/>
              </a:rPr>
              <a:t>Project code :- </a:t>
            </a:r>
            <a:endParaRPr kumimoji="0" lang="en-US" altLang="en-US" sz="1600" b="1"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0774CDE4-421A-22BA-C18E-30AD0FFC7E74}"/>
              </a:ext>
            </a:extLst>
          </p:cNvPr>
          <p:cNvSpPr>
            <a:spLocks noChangeArrowheads="1"/>
          </p:cNvSpPr>
          <p:nvPr/>
        </p:nvSpPr>
        <p:spPr bwMode="auto">
          <a:xfrm>
            <a:off x="1774800" y="2828062"/>
            <a:ext cx="6768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000000"/>
                </a:solidFill>
                <a:effectLst/>
                <a:latin typeface="Arial" panose="020B0604020202020204" pitchFamily="34" charset="0"/>
              </a:rPr>
              <a:t>Full source code available on GitHub. Clone or fork the repository to explore the implementation details and customize for your needs.</a:t>
            </a:r>
            <a:endParaRPr kumimoji="0" lang="en-US" altLang="en-US" sz="600" b="0" i="0" u="none" strike="noStrike" cap="none" normalizeH="0" baseline="0" dirty="0">
              <a:ln>
                <a:noFill/>
              </a:ln>
              <a:solidFill>
                <a:schemeClr val="tx1"/>
              </a:solidFill>
              <a:effectLst/>
              <a:latin typeface="Arial" panose="020B0604020202020204" pitchFamily="34" charset="0"/>
            </a:endParaRPr>
          </a:p>
          <a:p>
            <a:pPr lvl="0" algn="ctr" eaLnBrk="0" fontAlgn="base" hangingPunct="0">
              <a:spcBef>
                <a:spcPct val="0"/>
              </a:spcBef>
              <a:spcAft>
                <a:spcPct val="0"/>
              </a:spcAft>
            </a:pPr>
            <a:r>
              <a:rPr lang="en-US" altLang="en-US" sz="1400" dirty="0">
                <a:solidFill>
                  <a:schemeClr val="accent5">
                    <a:lumMod val="75000"/>
                  </a:schemeClr>
                </a:solidFill>
                <a:latin typeface="Arial" panose="020B0604020202020204" pitchFamily="34" charset="0"/>
                <a:hlinkClick r:id="rId3"/>
              </a:rPr>
              <a:t>https://github.com/deeksha29-bawa/ai-finance-expense-automation-system-</a:t>
            </a:r>
            <a:endParaRPr lang="en-US" altLang="en-US" sz="1400" dirty="0">
              <a:solidFill>
                <a:schemeClr val="accent5">
                  <a:lumMod val="75000"/>
                </a:schemeClr>
              </a:solidFill>
              <a:latin typeface="Arial" panose="020B0604020202020204" pitchFamily="34" charset="0"/>
            </a:endParaRPr>
          </a:p>
          <a:p>
            <a:pPr lvl="0" algn="ctr" eaLnBrk="0" fontAlgn="base" hangingPunct="0">
              <a:spcBef>
                <a:spcPct val="0"/>
              </a:spcBef>
              <a:spcAft>
                <a:spcPct val="0"/>
              </a:spcAft>
            </a:pPr>
            <a:endParaRPr lang="en-US" altLang="en-US" sz="1400" dirty="0">
              <a:solidFill>
                <a:schemeClr val="accent5">
                  <a:lumMod val="75000"/>
                </a:schemeClr>
              </a:solidFill>
              <a:latin typeface="Arial" panose="020B0604020202020204" pitchFamily="34" charset="0"/>
            </a:endParaRPr>
          </a:p>
          <a:p>
            <a:pPr lvl="0" algn="ctr" eaLnBrk="0" fontAlgn="base" hangingPunct="0">
              <a:spcBef>
                <a:spcPct val="0"/>
              </a:spcBef>
              <a:spcAft>
                <a:spcPct val="0"/>
              </a:spcAft>
            </a:pPr>
            <a:r>
              <a:rPr lang="en-US" altLang="en-US" sz="1400" dirty="0">
                <a:solidFill>
                  <a:schemeClr val="accent5">
                    <a:lumMod val="75000"/>
                  </a:schemeClr>
                </a:solidFill>
                <a:latin typeface="Arial" panose="020B0604020202020204" pitchFamily="34" charset="0"/>
              </a:rPr>
              <a:t>https://github.com/bhavikamadaan8-sketch/ai-finance-expense-automation-system</a:t>
            </a:r>
            <a:endParaRPr kumimoji="0" lang="en-US" altLang="en-US" sz="1400" b="0" i="0" u="none" strike="noStrike" cap="none" normalizeH="0" baseline="0" dirty="0">
              <a:ln>
                <a:noFill/>
              </a:ln>
              <a:solidFill>
                <a:schemeClr val="accent5">
                  <a:lumMod val="75000"/>
                </a:schemeClr>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0F0"/>
        </a:solidFill>
        <a:effectLst/>
      </p:bgPr>
    </p:bg>
    <p:spTree>
      <p:nvGrpSpPr>
        <p:cNvPr id="1" name="">
          <a:extLst>
            <a:ext uri="{FF2B5EF4-FFF2-40B4-BE49-F238E27FC236}">
              <a16:creationId xmlns:a16="http://schemas.microsoft.com/office/drawing/2014/main" id="{B3C6D413-E68B-A083-5F03-DE42DB62EC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F12CE5E-A53E-A2E2-0B16-8E8A4B904E59}"/>
              </a:ext>
            </a:extLst>
          </p:cNvPr>
          <p:cNvSpPr/>
          <p:nvPr/>
        </p:nvSpPr>
        <p:spPr>
          <a:xfrm>
            <a:off x="-1097280" y="-1097280"/>
            <a:ext cx="3657600" cy="3657600"/>
          </a:xfrm>
          <a:prstGeom prst="ellipse">
            <a:avLst/>
          </a:prstGeom>
          <a:solidFill>
            <a:srgbClr val="7C5CBF">
              <a:alpha val="18000"/>
            </a:srgbClr>
          </a:solidFill>
          <a:ln w="12700">
            <a:solidFill>
              <a:srgbClr val="7C5CBF">
                <a:alpha val="18000"/>
              </a:srgbClr>
            </a:solidFill>
            <a:prstDash val="solid"/>
          </a:ln>
        </p:spPr>
      </p:sp>
      <p:sp>
        <p:nvSpPr>
          <p:cNvPr id="3" name="Shape 1">
            <a:extLst>
              <a:ext uri="{FF2B5EF4-FFF2-40B4-BE49-F238E27FC236}">
                <a16:creationId xmlns:a16="http://schemas.microsoft.com/office/drawing/2014/main" id="{38D1D2A6-F5FA-AF33-04A1-0064B8B4F5F5}"/>
              </a:ext>
            </a:extLst>
          </p:cNvPr>
          <p:cNvSpPr/>
          <p:nvPr/>
        </p:nvSpPr>
        <p:spPr>
          <a:xfrm>
            <a:off x="6858000" y="2926080"/>
            <a:ext cx="3200400" cy="3200400"/>
          </a:xfrm>
          <a:prstGeom prst="ellipse">
            <a:avLst/>
          </a:prstGeom>
          <a:solidFill>
            <a:srgbClr val="3A9E8D">
              <a:alpha val="18000"/>
            </a:srgbClr>
          </a:solidFill>
          <a:ln w="12700">
            <a:solidFill>
              <a:srgbClr val="3A9E8D">
                <a:alpha val="18000"/>
              </a:srgbClr>
            </a:solidFill>
            <a:prstDash val="solid"/>
          </a:ln>
        </p:spPr>
      </p:sp>
      <p:sp>
        <p:nvSpPr>
          <p:cNvPr id="4" name="Shape 2">
            <a:extLst>
              <a:ext uri="{FF2B5EF4-FFF2-40B4-BE49-F238E27FC236}">
                <a16:creationId xmlns:a16="http://schemas.microsoft.com/office/drawing/2014/main" id="{89A669EB-BC38-E817-64C1-462EF12F99BF}"/>
              </a:ext>
            </a:extLst>
          </p:cNvPr>
          <p:cNvSpPr/>
          <p:nvPr/>
        </p:nvSpPr>
        <p:spPr>
          <a:xfrm>
            <a:off x="7498080" y="-731520"/>
            <a:ext cx="2011680" cy="2011680"/>
          </a:xfrm>
          <a:prstGeom prst="ellipse">
            <a:avLst/>
          </a:prstGeom>
          <a:solidFill>
            <a:srgbClr val="C9637A">
              <a:alpha val="16000"/>
            </a:srgbClr>
          </a:solidFill>
          <a:ln w="12700">
            <a:solidFill>
              <a:srgbClr val="C9637A">
                <a:alpha val="16000"/>
              </a:srgbClr>
            </a:solidFill>
            <a:prstDash val="solid"/>
          </a:ln>
        </p:spPr>
      </p:sp>
      <p:sp>
        <p:nvSpPr>
          <p:cNvPr id="5" name="Shape 3">
            <a:extLst>
              <a:ext uri="{FF2B5EF4-FFF2-40B4-BE49-F238E27FC236}">
                <a16:creationId xmlns:a16="http://schemas.microsoft.com/office/drawing/2014/main" id="{39F9B5DF-E31B-7388-51E9-3406B9AFD74E}"/>
              </a:ext>
            </a:extLst>
          </p:cNvPr>
          <p:cNvSpPr/>
          <p:nvPr/>
        </p:nvSpPr>
        <p:spPr>
          <a:xfrm>
            <a:off x="1371600" y="777240"/>
            <a:ext cx="6400800" cy="3566160"/>
          </a:xfrm>
          <a:prstGeom prst="roundRect">
            <a:avLst>
              <a:gd name="adj" fmla="val 5128"/>
            </a:avLst>
          </a:prstGeom>
          <a:solidFill>
            <a:srgbClr val="FFFFFF">
              <a:alpha val="82000"/>
            </a:srgbClr>
          </a:solidFill>
          <a:ln w="12700">
            <a:solidFill>
              <a:srgbClr val="7C5CBF">
                <a:alpha val="28000"/>
              </a:srgbClr>
            </a:solidFill>
            <a:prstDash val="solid"/>
          </a:ln>
          <a:effectLst>
            <a:outerShdw blurRad="101600" dist="25400" dir="8100000" algn="bl" rotWithShape="0">
              <a:srgbClr val="9B8FBB">
                <a:alpha val="13000"/>
              </a:srgbClr>
            </a:outerShdw>
          </a:effectLst>
        </p:spPr>
      </p:sp>
      <p:sp>
        <p:nvSpPr>
          <p:cNvPr id="6" name="Text 4">
            <a:extLst>
              <a:ext uri="{FF2B5EF4-FFF2-40B4-BE49-F238E27FC236}">
                <a16:creationId xmlns:a16="http://schemas.microsoft.com/office/drawing/2014/main" id="{A0923FC1-C827-F9A0-A28C-E09873579305}"/>
              </a:ext>
            </a:extLst>
          </p:cNvPr>
          <p:cNvSpPr/>
          <p:nvPr/>
        </p:nvSpPr>
        <p:spPr>
          <a:xfrm>
            <a:off x="1371600" y="914400"/>
            <a:ext cx="640080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7" name="Text 5">
            <a:extLst>
              <a:ext uri="{FF2B5EF4-FFF2-40B4-BE49-F238E27FC236}">
                <a16:creationId xmlns:a16="http://schemas.microsoft.com/office/drawing/2014/main" id="{04BA1AA3-D697-07F5-135A-DB05B2FAD9B3}"/>
              </a:ext>
            </a:extLst>
          </p:cNvPr>
          <p:cNvSpPr/>
          <p:nvPr/>
        </p:nvSpPr>
        <p:spPr>
          <a:xfrm>
            <a:off x="1463040" y="1600200"/>
            <a:ext cx="6217920" cy="822960"/>
          </a:xfrm>
          <a:prstGeom prst="rect">
            <a:avLst/>
          </a:prstGeom>
          <a:noFill/>
          <a:ln/>
        </p:spPr>
        <p:txBody>
          <a:bodyPr wrap="square" lIns="0" tIns="0" rIns="0" bIns="0" rtlCol="0" anchor="ctr"/>
          <a:lstStyle/>
          <a:p>
            <a:pPr marL="0" indent="0" algn="ctr">
              <a:buNone/>
            </a:pPr>
            <a:r>
              <a:rPr lang="en-US" sz="4200" b="1" dirty="0">
                <a:solidFill>
                  <a:srgbClr val="3D3455"/>
                </a:solidFill>
                <a:latin typeface="Georgia" pitchFamily="34" charset="0"/>
                <a:ea typeface="Georgia" pitchFamily="34" charset="-122"/>
                <a:cs typeface="Georgia" pitchFamily="34" charset="-120"/>
              </a:rPr>
              <a:t>Thank You!</a:t>
            </a:r>
            <a:endParaRPr lang="en-US" sz="4200" dirty="0"/>
          </a:p>
        </p:txBody>
      </p:sp>
      <p:sp>
        <p:nvSpPr>
          <p:cNvPr id="8" name="Text 6">
            <a:extLst>
              <a:ext uri="{FF2B5EF4-FFF2-40B4-BE49-F238E27FC236}">
                <a16:creationId xmlns:a16="http://schemas.microsoft.com/office/drawing/2014/main" id="{0CF5C5DD-E596-6E1F-ECB6-6E7323ECE33C}"/>
              </a:ext>
            </a:extLst>
          </p:cNvPr>
          <p:cNvSpPr/>
          <p:nvPr/>
        </p:nvSpPr>
        <p:spPr>
          <a:xfrm>
            <a:off x="1463040" y="2487168"/>
            <a:ext cx="6217920" cy="384048"/>
          </a:xfrm>
          <a:prstGeom prst="rect">
            <a:avLst/>
          </a:prstGeom>
          <a:noFill/>
          <a:ln/>
        </p:spPr>
        <p:txBody>
          <a:bodyPr wrap="square" lIns="0" tIns="0" rIns="0" bIns="0" rtlCol="0" anchor="ctr"/>
          <a:lstStyle/>
          <a:p>
            <a:pPr marL="0" indent="0" algn="ctr">
              <a:buNone/>
            </a:pPr>
            <a:r>
              <a:rPr lang="en-US" sz="1500" dirty="0">
                <a:solidFill>
                  <a:srgbClr val="5A5278"/>
                </a:solidFill>
                <a:latin typeface="Calibri" pitchFamily="34" charset="0"/>
                <a:ea typeface="Calibri" pitchFamily="34" charset="-122"/>
                <a:cs typeface="Calibri" pitchFamily="34" charset="-120"/>
              </a:rPr>
              <a:t>We appreciate your time and attention</a:t>
            </a:r>
            <a:endParaRPr lang="en-US" sz="1500" dirty="0"/>
          </a:p>
        </p:txBody>
      </p:sp>
      <p:sp>
        <p:nvSpPr>
          <p:cNvPr id="9" name="Text 7">
            <a:extLst>
              <a:ext uri="{FF2B5EF4-FFF2-40B4-BE49-F238E27FC236}">
                <a16:creationId xmlns:a16="http://schemas.microsoft.com/office/drawing/2014/main" id="{FBF0A863-A80C-38B2-E961-D09725E1A847}"/>
              </a:ext>
            </a:extLst>
          </p:cNvPr>
          <p:cNvSpPr/>
          <p:nvPr/>
        </p:nvSpPr>
        <p:spPr>
          <a:xfrm>
            <a:off x="1463040" y="2944368"/>
            <a:ext cx="6217920" cy="347472"/>
          </a:xfrm>
          <a:prstGeom prst="rect">
            <a:avLst/>
          </a:prstGeom>
          <a:noFill/>
          <a:ln/>
        </p:spPr>
        <p:txBody>
          <a:bodyPr wrap="square" lIns="0" tIns="0" rIns="0" bIns="0" rtlCol="0" anchor="ctr"/>
          <a:lstStyle/>
          <a:p>
            <a:pPr marL="0" indent="0" algn="ctr">
              <a:buNone/>
            </a:pPr>
            <a:r>
              <a:rPr lang="en-US" sz="1300" i="1" dirty="0">
                <a:solidFill>
                  <a:srgbClr val="6B6380"/>
                </a:solidFill>
                <a:latin typeface="Calibri" pitchFamily="34" charset="0"/>
                <a:ea typeface="Calibri" pitchFamily="34" charset="-122"/>
                <a:cs typeface="Calibri" pitchFamily="34" charset="-120"/>
              </a:rPr>
              <a:t>Let us know if you need help with anything else 💬</a:t>
            </a:r>
            <a:endParaRPr lang="en-US" sz="1300" dirty="0"/>
          </a:p>
        </p:txBody>
      </p:sp>
      <p:sp>
        <p:nvSpPr>
          <p:cNvPr id="10" name="Text 8">
            <a:extLst>
              <a:ext uri="{FF2B5EF4-FFF2-40B4-BE49-F238E27FC236}">
                <a16:creationId xmlns:a16="http://schemas.microsoft.com/office/drawing/2014/main" id="{1A4CB548-011C-AF33-4322-9E82A87D1EB5}"/>
              </a:ext>
            </a:extLst>
          </p:cNvPr>
          <p:cNvSpPr/>
          <p:nvPr/>
        </p:nvSpPr>
        <p:spPr>
          <a:xfrm>
            <a:off x="0" y="4754880"/>
            <a:ext cx="9144000" cy="274320"/>
          </a:xfrm>
          <a:prstGeom prst="rect">
            <a:avLst/>
          </a:prstGeom>
          <a:noFill/>
          <a:ln/>
        </p:spPr>
        <p:txBody>
          <a:bodyPr wrap="square" lIns="0" tIns="0" rIns="0" bIns="0" rtlCol="0" anchor="ctr"/>
          <a:lstStyle/>
          <a:p>
            <a:pPr marL="0" indent="0" algn="ctr">
              <a:buNone/>
            </a:pPr>
            <a:r>
              <a:rPr lang="en-US" sz="1000" dirty="0">
                <a:solidFill>
                  <a:srgbClr val="6B6380"/>
                </a:solidFill>
                <a:latin typeface="Calibri" pitchFamily="34" charset="0"/>
                <a:ea typeface="Calibri" pitchFamily="34" charset="-122"/>
                <a:cs typeface="Calibri" pitchFamily="34" charset="-120"/>
              </a:rPr>
              <a:t>AI Finance Assistant  •  Simple · Accurate · User-Friendly</a:t>
            </a:r>
            <a:endParaRPr lang="en-US" sz="1000" dirty="0"/>
          </a:p>
        </p:txBody>
      </p:sp>
    </p:spTree>
    <p:extLst>
      <p:ext uri="{BB962C8B-B14F-4D97-AF65-F5344CB8AC3E}">
        <p14:creationId xmlns:p14="http://schemas.microsoft.com/office/powerpoint/2010/main" val="1763147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867</Words>
  <Application>Microsoft Office PowerPoint</Application>
  <PresentationFormat>On-screen Show (16:9)</PresentationFormat>
  <Paragraphs>155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Finance Assistant</dc:title>
  <dc:subject>PptxGenJS Presentation</dc:subject>
  <dc:creator>PptxGenJS</dc:creator>
  <cp:lastModifiedBy>bhavika madaan</cp:lastModifiedBy>
  <cp:revision>2</cp:revision>
  <dcterms:created xsi:type="dcterms:W3CDTF">2026-05-06T17:45:24Z</dcterms:created>
  <dcterms:modified xsi:type="dcterms:W3CDTF">2026-05-06T19:07:03Z</dcterms:modified>
</cp:coreProperties>
</file>